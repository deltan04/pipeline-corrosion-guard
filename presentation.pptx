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text" id="{1ba2f709-fe46-51eb-736e-8677d9ddb352}">
          <p14:sldIdLst>
            <p14:sldId id="256"/>
            <p14:sldId id="257"/>
          </p14:sldIdLst>
        </p14:section>
        <p14:section name="Solution" id="{75d706d4-a082-3919-1033-0c89bbb0321c}">
          <p14:sldIdLst>
            <p14:sldId id="258"/>
            <p14:sldId id="259"/>
            <p14:sldId id="260"/>
            <p14:sldId id="261"/>
            <p14:sldId id="262"/>
          </p14:sldIdLst>
        </p14:section>
        <p14:section name="Results" id="{30109e57-040a-8565-9ed7-e678d9c7b29d}">
          <p14:sldIdLst>
            <p14:sldId id="263"/>
            <p14:sldId id="264"/>
            <p14:sldId id="265"/>
            <p14:sldId id="266"/>
            <p14:sldId id="267"/>
          </p14:sldIdLst>
        </p14:section>
        <p14:section name="Wrap-up" id="{efc9b53d-9b0d-50a2-5e60-1dc5c4133707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Anomalies</c:v>
                </c:pt>
              </c:strCache>
            </c:strRef>
          </c:tx>
          <c:spPr>
            <a:solidFill>
              <a:srgbClr val="B548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F1D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4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AE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DD7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8E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IMMEDIATE</c:v>
                  </c:pt>
                  <c:pt idx="1">
                    <c:v>60-DAY</c:v>
                  </c:pt>
                  <c:pt idx="2">
                    <c:v>180-DAY</c:v>
                  </c:pt>
                  <c:pt idx="3">
                    <c:v>MONITOR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14</c:v>
                </c:pt>
                <c:pt idx="2">
                  <c:v>121</c:v>
                </c:pt>
                <c:pt idx="3">
                  <c:v>149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0F1D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1D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Legacy manual</c:v>
                </c:pt>
              </c:strCache>
            </c:strRef>
          </c:tx>
          <c:spPr>
            <a:solidFill>
              <a:srgbClr val="E5AE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1D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Critical recall (IMMEDIATE + 60-day)</c:v>
                  </c:pt>
                  <c:pt idx="1">
                    <c:v>IMMEDIATE-only recall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0.39335664335664333</c:v>
                </c:pt>
                <c:pt idx="1">
                  <c:v>0.07894736842105263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Executor only</c:v>
                </c:pt>
              </c:strCache>
            </c:strRef>
          </c:tx>
          <c:spPr>
            <a:solidFill>
              <a:srgbClr val="6FA8E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1D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Critical recall (IMMEDIATE + 60-day)</c:v>
                  </c:pt>
                  <c:pt idx="1">
                    <c:v>IMMEDIATE-only recall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0.7552447552447552</c:v>
                </c:pt>
                <c:pt idx="1">
                  <c:v>0.6754385964912281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CorrosionGuard (final)</c:v>
                </c:pt>
              </c:strCache>
            </c:strRef>
          </c:tx>
          <c:spPr>
            <a:solidFill>
              <a:srgbClr val="0F1D2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1D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Critical recall (IMMEDIATE + 60-day)</c:v>
                  </c:pt>
                  <c:pt idx="1">
                    <c:v>IMMEDIATE-only recall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0.8047785547785548</c:v>
                </c:pt>
                <c:pt idx="1">
                  <c:v>0.7280701754385965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0F1D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1D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3D3D3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1D2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0F1D2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Legacy manual</c:v>
                </c:pt>
              </c:strCache>
            </c:strRef>
          </c:tx>
          <c:spPr>
            <a:solidFill>
              <a:srgbClr val="E5AE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1D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Under-triaged</c:v>
                  </c:pt>
                  <c:pt idx="1">
                    <c:v>Over-triaged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CorrosionGuard</c:v>
                </c:pt>
              </c:strCache>
            </c:strRef>
          </c:tx>
          <c:spPr>
            <a:solidFill>
              <a:srgbClr val="0F1D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1D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Under-triaged</c:v>
                  </c:pt>
                  <c:pt idx="1">
                    <c:v>Over-triaged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</c:v>
                </c:pt>
                <c:pt idx="1">
                  <c:v>136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F1D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1D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D3D3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1D2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0F1D2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problem statement. The tiles mirror the dashboard look: two scale tiles, then the headline result (legacy vs CorrosionGuard recall) and the honest cost (precision).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ILI tools report thousands of metal-loss anomalies per run. Engineers prioritise them by hand. The four cards are the pain points the agent system targets.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existing business challenge. Right: the proposed solution. The human approval gate for IMMEDIATE items is a deliberate design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Planner, Research, Executor, Critic and Business Automation. A Software Development agent was not needed for this workflow.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Row 1 flows left to right, then the router decides. Yes sends the objected anomalies back to the Executor (max 2 loops); No continues to the human approval gate, automation and outputs. Every handoff is a typed A2A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layered view that can sit beside (or be replaced by) the draw.io diagram. Detail for each box is in docs/ARCHITECTURE_EXPLAINED.md.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Executor's numbers (B31G, ERF, projection, risk score) are tool outputs, not LLM text. The mock LLM only writes the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300 anomalies over 4 pipelines (seed 42). Ground truth comes from a separate model with hidden true depth and growth; observed values add ILI sizing noise; legacy labels include human lapses.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Suggested 3-minute demo: page 3 (run agents) and page 5 (critic findings) carry the story; finish on page 7 metrics.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Held-out seeds 7 and 99. Legacy labels miss most criticals; the Executor alone already helps; adding the Critic raises recall again, especially for IMMEDIATE.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Seed 42 error profile. The system over-triages by design because a missed critical defect is far costlier than a false alarm. A zero-noise re-run barely changes precision, so noise is not the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Tests cover truth independence, no leakage, the honour-the-Critic invariant and the swappable LLM. Rework stats are from the seed 42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limitations first; they are what a reviewer will probe. The Critic and the reworked Executor share a rule family, so convergence is partly by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trade-off: higher recall at lower precision is the right direction for safety-critical triage, and the limits are stated openly.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1D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CorrosionGuard · Agentic AI PoC · synthetic data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CorrosionGuard · Agentic AI PoC · synthetic data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D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CorrosionGuard · Agentic AI PoC · synthetic data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6400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CorrosionGuard</a:t>
            </a:r>
            <a:endParaRPr lang="en-US" sz="56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7373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Agentic AI that triages pipeline corrosion inspection findings by risk, and catches the critical defects that manual review misses</a:t>
            </a:r>
            <a:endParaRPr lang="en-US" sz="22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926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Multi-agent proof of concept  ·  LangGraph  ·  Streamlit  ·  fully offline, synthetic data</a:t>
            </a:r>
            <a:endParaRPr lang="en-US" sz="1600" dirty="0"/>
          </a:p>
        </p:txBody>
      </p:sp>
      <p:sp>
        <p:nvSpPr>
          <p:cNvPr id="5" name="KPI Anomalies per run"/>
          <p:cNvSpPr txBox="1"/>
          <p:nvPr/>
        </p:nvSpPr>
        <p:spPr>
          <a:xfrm>
            <a:off x="457200" y="3840480"/>
            <a:ext cx="2103120" cy="1463040"/>
          </a:xfrm>
          <a:prstGeom prst="roundRect">
            <a:avLst>
              <a:gd name="adj" fmla="val 5000"/>
            </a:avLst>
          </a:prstGeom>
          <a:solidFill>
            <a:srgbClr val="6FA8E4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Anomalies per run</a:t>
            </a:r>
            <a:endParaRPr lang="en-US" sz="1400" dirty="0"/>
          </a:p>
          <a:p>
            <a:pPr algn="ctr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300</a:t>
            </a:r>
            <a:endParaRPr lang="en-US" sz="1400" dirty="0"/>
          </a:p>
        </p:txBody>
      </p:sp>
      <p:sp>
        <p:nvSpPr>
          <p:cNvPr id="6" name="KPI Specialised agents"/>
          <p:cNvSpPr txBox="1"/>
          <p:nvPr/>
        </p:nvSpPr>
        <p:spPr>
          <a:xfrm>
            <a:off x="2743200" y="3840480"/>
            <a:ext cx="2103120" cy="1463040"/>
          </a:xfrm>
          <a:prstGeom prst="roundRect">
            <a:avLst>
              <a:gd name="adj" fmla="val 5000"/>
            </a:avLst>
          </a:prstGeom>
          <a:solidFill>
            <a:srgbClr val="6FA8E4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Specialised agents</a:t>
            </a:r>
            <a:endParaRPr lang="en-US" sz="1400" dirty="0"/>
          </a:p>
          <a:p>
            <a:pPr algn="ctr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7" name="KPI Critical recall, legacy manual"/>
          <p:cNvSpPr txBox="1"/>
          <p:nvPr/>
        </p:nvSpPr>
        <p:spPr>
          <a:xfrm>
            <a:off x="5029200" y="3840480"/>
            <a:ext cx="2103120" cy="1463040"/>
          </a:xfrm>
          <a:prstGeom prst="roundRect">
            <a:avLst>
              <a:gd name="adj" fmla="val 5000"/>
            </a:avLst>
          </a:prstGeom>
          <a:solidFill>
            <a:srgbClr val="FBFFC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Critical recall, legacy manual</a:t>
            </a:r>
            <a:endParaRPr lang="en-US" sz="1400" dirty="0"/>
          </a:p>
          <a:p>
            <a:pPr algn="ctr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0.39</a:t>
            </a:r>
            <a:endParaRPr lang="en-US" sz="1400" dirty="0"/>
          </a:p>
        </p:txBody>
      </p:sp>
      <p:sp>
        <p:nvSpPr>
          <p:cNvPr id="8" name="KPI Critical recall, CorrosionGuard"/>
          <p:cNvSpPr txBox="1"/>
          <p:nvPr/>
        </p:nvSpPr>
        <p:spPr>
          <a:xfrm>
            <a:off x="7315200" y="3840480"/>
            <a:ext cx="2103120" cy="1463040"/>
          </a:xfrm>
          <a:prstGeom prst="roundRect">
            <a:avLst>
              <a:gd name="adj" fmla="val 5000"/>
            </a:avLst>
          </a:prstGeom>
          <a:solidFill>
            <a:srgbClr val="E5AE6E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Critical recall, CorrosionGuard</a:t>
            </a:r>
            <a:endParaRPr lang="en-US" sz="1400" dirty="0"/>
          </a:p>
          <a:p>
            <a:pPr algn="ctr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0.80</a:t>
            </a:r>
            <a:endParaRPr lang="en-US" sz="1400" dirty="0"/>
          </a:p>
        </p:txBody>
      </p:sp>
      <p:sp>
        <p:nvSpPr>
          <p:cNvPr id="9" name="KPI Critical precision"/>
          <p:cNvSpPr txBox="1"/>
          <p:nvPr/>
        </p:nvSpPr>
        <p:spPr>
          <a:xfrm>
            <a:off x="9601200" y="3840480"/>
            <a:ext cx="2103120" cy="1463040"/>
          </a:xfrm>
          <a:prstGeom prst="roundRect">
            <a:avLst>
              <a:gd name="adj" fmla="val 5000"/>
            </a:avLst>
          </a:prstGeom>
          <a:solidFill>
            <a:srgbClr val="B5483E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Critical precision</a:t>
            </a:r>
            <a:endParaRPr lang="en-US" sz="1400" dirty="0"/>
          </a:p>
          <a:p>
            <a:pPr algn="ctr"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0.23</a:t>
            </a:r>
            <a:endParaRPr lang="en-US" sz="1400" dirty="0"/>
          </a:p>
        </p:txBody>
      </p:sp>
      <p:sp>
        <p:nvSpPr>
          <p:cNvPr id="10" name="Footnote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Critical = IMMEDIATE + 60-day classes. Recall and precision are means over held-out synthetic seeds 7 and 99.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Corrosion triage is slow, inconsistent and unchecked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How does inspection triage work today, and where does it fall short?</a:t>
            </a:r>
            <a:endParaRPr lang="en-US" sz="1500" dirty="0"/>
          </a:p>
        </p:txBody>
      </p:sp>
      <p:sp>
        <p:nvSpPr>
          <p:cNvPr id="5" name="How it works today"/>
          <p:cNvSpPr/>
          <p:nvPr/>
        </p:nvSpPr>
        <p:spPr>
          <a:xfrm>
            <a:off x="457200" y="1508760"/>
            <a:ext cx="4023360" cy="4754880"/>
          </a:xfrm>
          <a:prstGeom prst="roundRect">
            <a:avLst>
              <a:gd name="adj" fmla="val 1364"/>
            </a:avLst>
          </a:prstGeom>
          <a:solidFill>
            <a:srgbClr val="0F1D2A"/>
          </a:solidFill>
          <a:ln w="12700">
            <a:solidFill>
              <a:srgbClr val="0F1D2A"/>
            </a:solidFill>
            <a:prstDash val="solid"/>
          </a:ln>
        </p:spPr>
      </p:sp>
      <p:sp>
        <p:nvSpPr>
          <p:cNvPr id="6" name="Today heading"/>
          <p:cNvSpPr txBox="1"/>
          <p:nvPr/>
        </p:nvSpPr>
        <p:spPr>
          <a:xfrm>
            <a:off x="640080" y="1645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How it works today</a:t>
            </a:r>
            <a:endParaRPr lang="en-US" sz="2200" dirty="0"/>
          </a:p>
        </p:txBody>
      </p:sp>
      <p:sp>
        <p:nvSpPr>
          <p:cNvPr id="7" name="Today bullets"/>
          <p:cNvSpPr txBox="1"/>
          <p:nvPr/>
        </p:nvSpPr>
        <p:spPr>
          <a:xfrm>
            <a:off x="548640" y="2240280"/>
            <a:ext cx="3840480" cy="39319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Scan: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ILI tools report thousands of metal-loss anomalies per run.</a:t>
            </a:r>
            <a:endParaRPr lang="en-US" sz="20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Review: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engineers work through spreadsheets and PDF reports.</a:t>
            </a:r>
            <a:endParaRPr lang="en-US" sz="20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Prioritise: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each finding becomes Immediate, 60-day, 180-day or Monitor.</a:t>
            </a:r>
            <a:endParaRPr lang="en-US" sz="20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Dig: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repairs are scheduled from that list.</a:t>
            </a:r>
            <a:endParaRPr lang="en-US" sz="2000" dirty="0"/>
          </a:p>
        </p:txBody>
      </p:sp>
      <p:sp>
        <p:nvSpPr>
          <p:cNvPr id="8" name="Pain card Slow"/>
          <p:cNvSpPr/>
          <p:nvPr/>
        </p:nvSpPr>
        <p:spPr>
          <a:xfrm>
            <a:off x="4709160" y="1508760"/>
            <a:ext cx="3419856" cy="2286000"/>
          </a:xfrm>
          <a:prstGeom prst="roundRect">
            <a:avLst>
              <a:gd name="adj" fmla="val 2400"/>
            </a:avLst>
          </a:prstGeom>
          <a:solidFill>
            <a:srgbClr val="6FA8E4"/>
          </a:solidFill>
          <a:ln w="12700">
            <a:solidFill>
              <a:srgbClr val="6FA8E4"/>
            </a:solidFill>
            <a:prstDash val="solid"/>
          </a:ln>
        </p:spPr>
      </p:sp>
      <p:sp>
        <p:nvSpPr>
          <p:cNvPr id="9" name="Card title Slow"/>
          <p:cNvSpPr txBox="1"/>
          <p:nvPr/>
        </p:nvSpPr>
        <p:spPr>
          <a:xfrm>
            <a:off x="4892040" y="16459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Slow</a:t>
            </a:r>
            <a:endParaRPr lang="en-US" sz="2400" dirty="0"/>
          </a:p>
        </p:txBody>
      </p:sp>
      <p:sp>
        <p:nvSpPr>
          <p:cNvPr id="10" name="Card text Slow"/>
          <p:cNvSpPr txBox="1"/>
          <p:nvPr/>
        </p:nvSpPr>
        <p:spPr>
          <a:xfrm>
            <a:off x="4892040" y="2240280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Every anomaly is reviewed row by row, run after run.</a:t>
            </a:r>
            <a:endParaRPr lang="en-US" sz="1800" dirty="0"/>
          </a:p>
        </p:txBody>
      </p:sp>
      <p:sp>
        <p:nvSpPr>
          <p:cNvPr id="11" name="Pain card Inconsistent"/>
          <p:cNvSpPr/>
          <p:nvPr/>
        </p:nvSpPr>
        <p:spPr>
          <a:xfrm>
            <a:off x="8311896" y="1508760"/>
            <a:ext cx="3419856" cy="2286000"/>
          </a:xfrm>
          <a:prstGeom prst="roundRect">
            <a:avLst>
              <a:gd name="adj" fmla="val 2400"/>
            </a:avLst>
          </a:prstGeom>
          <a:solidFill>
            <a:srgbClr val="FBFFC8"/>
          </a:solidFill>
          <a:ln w="12700">
            <a:solidFill>
              <a:srgbClr val="FBFFC8"/>
            </a:solidFill>
            <a:prstDash val="solid"/>
          </a:ln>
        </p:spPr>
      </p:sp>
      <p:sp>
        <p:nvSpPr>
          <p:cNvPr id="12" name="Card title Inconsistent"/>
          <p:cNvSpPr txBox="1"/>
          <p:nvPr/>
        </p:nvSpPr>
        <p:spPr>
          <a:xfrm>
            <a:off x="8494776" y="16459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Inconsistent</a:t>
            </a:r>
            <a:endParaRPr lang="en-US" sz="2400" dirty="0"/>
          </a:p>
        </p:txBody>
      </p:sp>
      <p:sp>
        <p:nvSpPr>
          <p:cNvPr id="13" name="Card text Inconsistent"/>
          <p:cNvSpPr txBox="1"/>
          <p:nvPr/>
        </p:nvSpPr>
        <p:spPr>
          <a:xfrm>
            <a:off x="8494776" y="2240280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Different engineers make different calls on similar defects.</a:t>
            </a:r>
            <a:endParaRPr lang="en-US" sz="1800" dirty="0"/>
          </a:p>
        </p:txBody>
      </p:sp>
      <p:sp>
        <p:nvSpPr>
          <p:cNvPr id="14" name="Pain card Context-blind"/>
          <p:cNvSpPr/>
          <p:nvPr/>
        </p:nvSpPr>
        <p:spPr>
          <a:xfrm>
            <a:off x="4709160" y="3977640"/>
            <a:ext cx="3419856" cy="2286000"/>
          </a:xfrm>
          <a:prstGeom prst="roundRect">
            <a:avLst>
              <a:gd name="adj" fmla="val 2400"/>
            </a:avLst>
          </a:prstGeom>
          <a:solidFill>
            <a:srgbClr val="E5AE6E"/>
          </a:solidFill>
          <a:ln w="12700">
            <a:solidFill>
              <a:srgbClr val="E5AE6E"/>
            </a:solidFill>
            <a:prstDash val="solid"/>
          </a:ln>
        </p:spPr>
      </p:sp>
      <p:sp>
        <p:nvSpPr>
          <p:cNvPr id="15" name="Card title Context-blind"/>
          <p:cNvSpPr txBox="1"/>
          <p:nvPr/>
        </p:nvSpPr>
        <p:spPr>
          <a:xfrm>
            <a:off x="4892040" y="411480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Context-blind</a:t>
            </a:r>
            <a:endParaRPr lang="en-US" sz="2400" dirty="0"/>
          </a:p>
        </p:txBody>
      </p:sp>
      <p:sp>
        <p:nvSpPr>
          <p:cNvPr id="16" name="Card text Context-blind"/>
          <p:cNvSpPr txBox="1"/>
          <p:nvPr/>
        </p:nvSpPr>
        <p:spPr>
          <a:xfrm>
            <a:off x="4892040" y="4709160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Growth rate, high-consequence areas, welds, crossings and notes are checked ad hoc.</a:t>
            </a:r>
            <a:endParaRPr lang="en-US" sz="1800" dirty="0"/>
          </a:p>
        </p:txBody>
      </p:sp>
      <p:sp>
        <p:nvSpPr>
          <p:cNvPr id="17" name="Pain card No second check"/>
          <p:cNvSpPr/>
          <p:nvPr/>
        </p:nvSpPr>
        <p:spPr>
          <a:xfrm>
            <a:off x="8311896" y="3977640"/>
            <a:ext cx="3419856" cy="2286000"/>
          </a:xfrm>
          <a:prstGeom prst="roundRect">
            <a:avLst>
              <a:gd name="adj" fmla="val 2400"/>
            </a:avLst>
          </a:prstGeom>
          <a:solidFill>
            <a:srgbClr val="B5483E"/>
          </a:solidFill>
          <a:ln w="12700">
            <a:solidFill>
              <a:srgbClr val="B5483E"/>
            </a:solidFill>
            <a:prstDash val="solid"/>
          </a:ln>
        </p:spPr>
      </p:sp>
      <p:sp>
        <p:nvSpPr>
          <p:cNvPr id="18" name="Card title No second check"/>
          <p:cNvSpPr txBox="1"/>
          <p:nvPr/>
        </p:nvSpPr>
        <p:spPr>
          <a:xfrm>
            <a:off x="8494776" y="411480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No second check</a:t>
            </a:r>
            <a:endParaRPr lang="en-US" sz="2400" dirty="0"/>
          </a:p>
        </p:txBody>
      </p:sp>
      <p:sp>
        <p:nvSpPr>
          <p:cNvPr id="19" name="Card text No second check"/>
          <p:cNvSpPr txBox="1"/>
          <p:nvPr/>
        </p:nvSpPr>
        <p:spPr>
          <a:xfrm>
            <a:off x="8494776" y="4709160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Nothing independent challenges the list before sign-off.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From manual review to a validated agent workflow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What changes when specialised agents plan, compute, challenge and document the triage?</a:t>
            </a:r>
            <a:endParaRPr lang="en-US" sz="1500" dirty="0"/>
          </a:p>
        </p:txBody>
      </p:sp>
      <p:sp>
        <p:nvSpPr>
          <p:cNvPr id="5" name="Today header"/>
          <p:cNvSpPr txBox="1"/>
          <p:nvPr/>
        </p:nvSpPr>
        <p:spPr>
          <a:xfrm>
            <a:off x="457200" y="1508760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B5483E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Today: manual triage</a:t>
            </a:r>
            <a:endParaRPr lang="en-US" sz="2200" dirty="0"/>
          </a:p>
        </p:txBody>
      </p:sp>
      <p:sp>
        <p:nvSpPr>
          <p:cNvPr id="6" name="Today panel"/>
          <p:cNvSpPr/>
          <p:nvPr/>
        </p:nvSpPr>
        <p:spPr>
          <a:xfrm>
            <a:off x="457200" y="2240280"/>
            <a:ext cx="53492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oday list"/>
          <p:cNvSpPr txBox="1"/>
          <p:nvPr/>
        </p:nvSpPr>
        <p:spPr>
          <a:xfrm>
            <a:off x="548640" y="2423160"/>
            <a:ext cx="5166360" cy="32918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Row-by-row review of every anomaly</a:t>
            </a:r>
            <a:endParaRPr lang="en-US" sz="20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Judgment varies between engineers</a:t>
            </a:r>
            <a:endParaRPr lang="en-US" sz="20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Growth rate, HCA, welds and notes checked ad hoc</a:t>
            </a:r>
            <a:endParaRPr lang="en-US" sz="20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No independent second opinion before sign-off</a:t>
            </a:r>
            <a:endParaRPr lang="en-US" sz="2000" dirty="0"/>
          </a:p>
        </p:txBody>
      </p:sp>
      <p:sp>
        <p:nvSpPr>
          <p:cNvPr id="8" name="Proposed header"/>
          <p:cNvSpPr txBox="1"/>
          <p:nvPr/>
        </p:nvSpPr>
        <p:spPr>
          <a:xfrm>
            <a:off x="6382512" y="1508760"/>
            <a:ext cx="5349240" cy="640080"/>
          </a:xfrm>
          <a:prstGeom prst="roundRect">
            <a:avLst>
              <a:gd name="adj" fmla="val 11429"/>
            </a:avLst>
          </a:prstGeom>
          <a:solidFill>
            <a:srgbClr val="6FA8E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Proposed: CorrosionGuard</a:t>
            </a:r>
            <a:endParaRPr lang="en-US" sz="2200" dirty="0"/>
          </a:p>
        </p:txBody>
      </p:sp>
      <p:sp>
        <p:nvSpPr>
          <p:cNvPr id="9" name="Proposed panel"/>
          <p:cNvSpPr/>
          <p:nvPr/>
        </p:nvSpPr>
        <p:spPr>
          <a:xfrm>
            <a:off x="6382512" y="2240280"/>
            <a:ext cx="53492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Proposed list"/>
          <p:cNvSpPr txBox="1"/>
          <p:nvPr/>
        </p:nvSpPr>
        <p:spPr>
          <a:xfrm>
            <a:off x="6473952" y="2423160"/>
            <a:ext cx="5166360" cy="32918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Planner breaks the run into visible tasks</a:t>
            </a:r>
            <a:endParaRPr lang="en-US" sz="20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Research agent enriches every anomaly with context</a:t>
            </a:r>
            <a:endParaRPr lang="en-US" sz="20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Executor computes B31G safe pressure, ERF and risk</a:t>
            </a:r>
            <a:endParaRPr lang="en-US" sz="20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Critic re-screens independently and can force rework</a:t>
            </a:r>
            <a:endParaRPr lang="en-US" sz="2000" dirty="0"/>
          </a:p>
        </p:txBody>
      </p:sp>
      <p:sp>
        <p:nvSpPr>
          <p:cNvPr id="11" name="Arrow today to proposed"/>
          <p:cNvSpPr/>
          <p:nvPr/>
        </p:nvSpPr>
        <p:spPr>
          <a:xfrm>
            <a:off x="5870448" y="3520440"/>
            <a:ext cx="457200" cy="457200"/>
          </a:xfrm>
          <a:prstGeom prst="rightArrow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Human gate note"/>
          <p:cNvSpPr/>
          <p:nvPr/>
        </p:nvSpPr>
        <p:spPr>
          <a:xfrm>
            <a:off x="457200" y="585216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F1D2A"/>
          </a:solidFill>
          <a:ln w="12700">
            <a:solidFill>
              <a:srgbClr val="0F1D2A"/>
            </a:solidFill>
            <a:prstDash val="solid"/>
          </a:ln>
        </p:spPr>
      </p:sp>
      <p:sp>
        <p:nvSpPr>
          <p:cNvPr id="13" name="Human gate text"/>
          <p:cNvSpPr txBox="1"/>
          <p:nvPr/>
        </p:nvSpPr>
        <p:spPr>
          <a:xfrm>
            <a:off x="640080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Human stays in the loop: every IMMEDIATE item waits for engineer approval before a work order is released.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Five agents, each with a clear job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Which agents do the work, and how do they divide responsibility?</a:t>
            </a:r>
            <a:endParaRPr lang="en-US" sz="1500" dirty="0"/>
          </a:p>
        </p:txBody>
      </p:sp>
      <p:sp>
        <p:nvSpPr>
          <p:cNvPr id="5" name="Agent card Planner"/>
          <p:cNvSpPr/>
          <p:nvPr/>
        </p:nvSpPr>
        <p:spPr>
          <a:xfrm>
            <a:off x="457200" y="1508760"/>
            <a:ext cx="2103120" cy="475488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Agent header Planner"/>
          <p:cNvSpPr txBox="1"/>
          <p:nvPr/>
        </p:nvSpPr>
        <p:spPr>
          <a:xfrm>
            <a:off x="457200" y="150876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0F1D2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Planner</a:t>
            </a:r>
            <a:endParaRPr lang="en-US" sz="2200" dirty="0"/>
          </a:p>
        </p:txBody>
      </p:sp>
      <p:sp>
        <p:nvSpPr>
          <p:cNvPr id="7" name="Agent role Planner"/>
          <p:cNvSpPr txBox="1"/>
          <p:nvPr/>
        </p:nvSpPr>
        <p:spPr>
          <a:xfrm>
            <a:off x="566928" y="242316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Breaks the request into tasks</a:t>
            </a:r>
            <a:endParaRPr lang="en-US" sz="1800" dirty="0"/>
          </a:p>
        </p:txBody>
      </p:sp>
      <p:sp>
        <p:nvSpPr>
          <p:cNvPr id="8" name="Agent duties Planner"/>
          <p:cNvSpPr txBox="1"/>
          <p:nvPr/>
        </p:nvSpPr>
        <p:spPr>
          <a:xfrm>
            <a:off x="475488" y="3200400"/>
            <a:ext cx="2066544" cy="22860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Builds a visible task plan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Routes by batch size and data quality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Hands off by A2A message</a:t>
            </a:r>
            <a:endParaRPr lang="en-US" sz="1500" dirty="0"/>
          </a:p>
        </p:txBody>
      </p:sp>
      <p:sp>
        <p:nvSpPr>
          <p:cNvPr id="9" name="Agent output Planner"/>
          <p:cNvSpPr txBox="1"/>
          <p:nvPr/>
        </p:nvSpPr>
        <p:spPr>
          <a:xfrm>
            <a:off x="566928" y="5486400"/>
            <a:ext cx="1883664" cy="594360"/>
          </a:xfrm>
          <a:prstGeom prst="roundRect">
            <a:avLst>
              <a:gd name="adj" fmla="val 12308"/>
            </a:avLst>
          </a:prstGeom>
          <a:solidFill>
            <a:srgbClr val="EBEBE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Emits TASK_PLAN</a:t>
            </a:r>
            <a:endParaRPr lang="en-US" sz="1300" dirty="0"/>
          </a:p>
        </p:txBody>
      </p:sp>
      <p:sp>
        <p:nvSpPr>
          <p:cNvPr id="10" name="Agent card Research"/>
          <p:cNvSpPr/>
          <p:nvPr/>
        </p:nvSpPr>
        <p:spPr>
          <a:xfrm>
            <a:off x="2743200" y="1508760"/>
            <a:ext cx="2103120" cy="475488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Agent header Research"/>
          <p:cNvSpPr txBox="1"/>
          <p:nvPr/>
        </p:nvSpPr>
        <p:spPr>
          <a:xfrm>
            <a:off x="2743200" y="150876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6FA8E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Research</a:t>
            </a:r>
            <a:endParaRPr lang="en-US" sz="2200" dirty="0"/>
          </a:p>
        </p:txBody>
      </p:sp>
      <p:sp>
        <p:nvSpPr>
          <p:cNvPr id="12" name="Agent role Research"/>
          <p:cNvSpPr txBox="1"/>
          <p:nvPr/>
        </p:nvSpPr>
        <p:spPr>
          <a:xfrm>
            <a:off x="2852928" y="242316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Collects and enriches context</a:t>
            </a:r>
            <a:endParaRPr lang="en-US" sz="1800" dirty="0"/>
          </a:p>
        </p:txBody>
      </p:sp>
      <p:sp>
        <p:nvSpPr>
          <p:cNvPr id="13" name="Agent duties Research"/>
          <p:cNvSpPr txBox="1"/>
          <p:nvPr/>
        </p:nvSpPr>
        <p:spPr>
          <a:xfrm>
            <a:off x="2761488" y="3200400"/>
            <a:ext cx="2066544" cy="22860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Growth rate from the prior run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HCA, welds, crossings, water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Interaction clusters and data QA</a:t>
            </a:r>
            <a:endParaRPr lang="en-US" sz="1500" dirty="0"/>
          </a:p>
        </p:txBody>
      </p:sp>
      <p:sp>
        <p:nvSpPr>
          <p:cNvPr id="14" name="Agent output Research"/>
          <p:cNvSpPr txBox="1"/>
          <p:nvPr/>
        </p:nvSpPr>
        <p:spPr>
          <a:xfrm>
            <a:off x="2852928" y="5486400"/>
            <a:ext cx="1883664" cy="594360"/>
          </a:xfrm>
          <a:prstGeom prst="roundRect">
            <a:avLst>
              <a:gd name="adj" fmla="val 12308"/>
            </a:avLst>
          </a:prstGeom>
          <a:solidFill>
            <a:srgbClr val="EBEBE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Emits ENRICHED_BATCH</a:t>
            </a:r>
            <a:endParaRPr lang="en-US" sz="1300" dirty="0"/>
          </a:p>
        </p:txBody>
      </p:sp>
      <p:sp>
        <p:nvSpPr>
          <p:cNvPr id="15" name="Agent card Executor"/>
          <p:cNvSpPr/>
          <p:nvPr/>
        </p:nvSpPr>
        <p:spPr>
          <a:xfrm>
            <a:off x="5029200" y="1508760"/>
            <a:ext cx="2103120" cy="475488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Agent header Executor"/>
          <p:cNvSpPr txBox="1"/>
          <p:nvPr/>
        </p:nvSpPr>
        <p:spPr>
          <a:xfrm>
            <a:off x="5029200" y="150876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7AA7B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Executor</a:t>
            </a:r>
            <a:endParaRPr lang="en-US" sz="2200" dirty="0"/>
          </a:p>
        </p:txBody>
      </p:sp>
      <p:sp>
        <p:nvSpPr>
          <p:cNvPr id="17" name="Agent role Executor"/>
          <p:cNvSpPr txBox="1"/>
          <p:nvPr/>
        </p:nvSpPr>
        <p:spPr>
          <a:xfrm>
            <a:off x="5138928" y="242316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Runs the risk engine</a:t>
            </a:r>
            <a:endParaRPr lang="en-US" sz="1800" dirty="0"/>
          </a:p>
        </p:txBody>
      </p:sp>
      <p:sp>
        <p:nvSpPr>
          <p:cNvPr id="18" name="Agent duties Executor"/>
          <p:cNvSpPr txBox="1"/>
          <p:nvPr/>
        </p:nvSpPr>
        <p:spPr>
          <a:xfrm>
            <a:off x="5047488" y="3200400"/>
            <a:ext cx="2066544" cy="22860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B31G safe pressure and ERF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2-year depth projection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Risk score and triage class</a:t>
            </a:r>
            <a:endParaRPr lang="en-US" sz="1500" dirty="0"/>
          </a:p>
        </p:txBody>
      </p:sp>
      <p:sp>
        <p:nvSpPr>
          <p:cNvPr id="19" name="Agent output Executor"/>
          <p:cNvSpPr txBox="1"/>
          <p:nvPr/>
        </p:nvSpPr>
        <p:spPr>
          <a:xfrm>
            <a:off x="5138928" y="5486400"/>
            <a:ext cx="1883664" cy="594360"/>
          </a:xfrm>
          <a:prstGeom prst="roundRect">
            <a:avLst>
              <a:gd name="adj" fmla="val 12308"/>
            </a:avLst>
          </a:prstGeom>
          <a:solidFill>
            <a:srgbClr val="EBEBE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Emits RISK_RESULTS</a:t>
            </a:r>
            <a:endParaRPr lang="en-US" sz="1300" dirty="0"/>
          </a:p>
        </p:txBody>
      </p:sp>
      <p:sp>
        <p:nvSpPr>
          <p:cNvPr id="20" name="Agent card Critic"/>
          <p:cNvSpPr/>
          <p:nvPr/>
        </p:nvSpPr>
        <p:spPr>
          <a:xfrm>
            <a:off x="7315200" y="1508760"/>
            <a:ext cx="2103120" cy="475488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Agent header Critic"/>
          <p:cNvSpPr txBox="1"/>
          <p:nvPr/>
        </p:nvSpPr>
        <p:spPr>
          <a:xfrm>
            <a:off x="7315200" y="150876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B5483E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Critic</a:t>
            </a:r>
            <a:endParaRPr lang="en-US" sz="2200" dirty="0"/>
          </a:p>
        </p:txBody>
      </p:sp>
      <p:sp>
        <p:nvSpPr>
          <p:cNvPr id="22" name="Agent role Critic"/>
          <p:cNvSpPr txBox="1"/>
          <p:nvPr/>
        </p:nvSpPr>
        <p:spPr>
          <a:xfrm>
            <a:off x="7424928" y="242316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Validates and challenges</a:t>
            </a:r>
            <a:endParaRPr lang="en-US" sz="1800" dirty="0"/>
          </a:p>
        </p:txBody>
      </p:sp>
      <p:sp>
        <p:nvSpPr>
          <p:cNvPr id="23" name="Agent duties Critic"/>
          <p:cNvSpPr txBox="1"/>
          <p:nvPr/>
        </p:nvSpPr>
        <p:spPr>
          <a:xfrm>
            <a:off x="7333488" y="3200400"/>
            <a:ext cx="2066544" cy="22860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Re-screens with full context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Agree, downgrade or upgrade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Triggers rework, max 2 loops</a:t>
            </a:r>
            <a:endParaRPr lang="en-US" sz="1500" dirty="0"/>
          </a:p>
        </p:txBody>
      </p:sp>
      <p:sp>
        <p:nvSpPr>
          <p:cNvPr id="24" name="Agent output Critic"/>
          <p:cNvSpPr txBox="1"/>
          <p:nvPr/>
        </p:nvSpPr>
        <p:spPr>
          <a:xfrm>
            <a:off x="7424928" y="5486400"/>
            <a:ext cx="1883664" cy="594360"/>
          </a:xfrm>
          <a:prstGeom prst="roundRect">
            <a:avLst>
              <a:gd name="adj" fmla="val 12308"/>
            </a:avLst>
          </a:prstGeom>
          <a:solidFill>
            <a:srgbClr val="EBEBE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Emits CRITIC_VERDICTS</a:t>
            </a:r>
            <a:endParaRPr lang="en-US" sz="1300" dirty="0"/>
          </a:p>
        </p:txBody>
      </p:sp>
      <p:sp>
        <p:nvSpPr>
          <p:cNvPr id="25" name="Agent card Automation"/>
          <p:cNvSpPr/>
          <p:nvPr/>
        </p:nvSpPr>
        <p:spPr>
          <a:xfrm>
            <a:off x="9601200" y="1508760"/>
            <a:ext cx="2103120" cy="475488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Agent header Automation"/>
          <p:cNvSpPr txBox="1"/>
          <p:nvPr/>
        </p:nvSpPr>
        <p:spPr>
          <a:xfrm>
            <a:off x="9601200" y="150876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E5AE6E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Automation</a:t>
            </a:r>
            <a:endParaRPr lang="en-US" sz="2200" dirty="0"/>
          </a:p>
        </p:txBody>
      </p:sp>
      <p:sp>
        <p:nvSpPr>
          <p:cNvPr id="27" name="Agent role Automation"/>
          <p:cNvSpPr txBox="1"/>
          <p:nvPr/>
        </p:nvSpPr>
        <p:spPr>
          <a:xfrm>
            <a:off x="9710928" y="2423160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Automates the paperwork</a:t>
            </a:r>
            <a:endParaRPr lang="en-US" sz="1800" dirty="0"/>
          </a:p>
        </p:txBody>
      </p:sp>
      <p:sp>
        <p:nvSpPr>
          <p:cNvPr id="28" name="Agent duties Automation"/>
          <p:cNvSpPr txBox="1"/>
          <p:nvPr/>
        </p:nvSpPr>
        <p:spPr>
          <a:xfrm>
            <a:off x="9619488" y="3200400"/>
            <a:ext cx="2066544" cy="22860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Work orders for urgent items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Monitoring list, notifications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Engineer summary report</a:t>
            </a:r>
            <a:endParaRPr lang="en-US" sz="1500" dirty="0"/>
          </a:p>
        </p:txBody>
      </p:sp>
      <p:sp>
        <p:nvSpPr>
          <p:cNvPr id="29" name="Agent output Automation"/>
          <p:cNvSpPr txBox="1"/>
          <p:nvPr/>
        </p:nvSpPr>
        <p:spPr>
          <a:xfrm>
            <a:off x="9710928" y="5486400"/>
            <a:ext cx="1883664" cy="594360"/>
          </a:xfrm>
          <a:prstGeom prst="roundRect">
            <a:avLst>
              <a:gd name="adj" fmla="val 12308"/>
            </a:avLst>
          </a:prstGeom>
          <a:solidFill>
            <a:srgbClr val="EBEBE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Emits RUN_COMPLETE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 LangGraph workflow with a rework loop and a human gate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How do the agents hand work to each other, and when does the Critic send it back?</a:t>
            </a:r>
            <a:endParaRPr lang="en-US" sz="1500" dirty="0"/>
          </a:p>
        </p:txBody>
      </p:sp>
      <p:sp>
        <p:nvSpPr>
          <p:cNvPr id="5" name="Node User request"/>
          <p:cNvSpPr txBox="1"/>
          <p:nvPr/>
        </p:nvSpPr>
        <p:spPr>
          <a:xfrm>
            <a:off x="457200" y="160020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User request</a:t>
            </a:r>
            <a:endParaRPr lang="en-US" sz="1600" dirty="0"/>
          </a:p>
        </p:txBody>
      </p:sp>
      <p:sp>
        <p:nvSpPr>
          <p:cNvPr id="6" name="Node Planner"/>
          <p:cNvSpPr txBox="1"/>
          <p:nvPr/>
        </p:nvSpPr>
        <p:spPr>
          <a:xfrm>
            <a:off x="2788920" y="160020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0F1D2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Planner</a:t>
            </a:r>
            <a:endParaRPr lang="en-US" sz="1600" dirty="0"/>
          </a:p>
        </p:txBody>
      </p:sp>
      <p:sp>
        <p:nvSpPr>
          <p:cNvPr id="7" name="Node Research"/>
          <p:cNvSpPr txBox="1"/>
          <p:nvPr/>
        </p:nvSpPr>
        <p:spPr>
          <a:xfrm>
            <a:off x="5120640" y="160020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6FA8E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Research</a:t>
            </a:r>
            <a:endParaRPr lang="en-US" sz="1600" dirty="0"/>
          </a:p>
        </p:txBody>
      </p:sp>
      <p:sp>
        <p:nvSpPr>
          <p:cNvPr id="8" name="Node Executor"/>
          <p:cNvSpPr txBox="1"/>
          <p:nvPr/>
        </p:nvSpPr>
        <p:spPr>
          <a:xfrm>
            <a:off x="7452360" y="160020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7AA7B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Executor</a:t>
            </a:r>
            <a:endParaRPr lang="en-US" sz="1600" dirty="0"/>
          </a:p>
        </p:txBody>
      </p:sp>
      <p:sp>
        <p:nvSpPr>
          <p:cNvPr id="9" name="Node Critic"/>
          <p:cNvSpPr txBox="1"/>
          <p:nvPr/>
        </p:nvSpPr>
        <p:spPr>
          <a:xfrm>
            <a:off x="9784080" y="160020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B5483E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Critic</a:t>
            </a:r>
            <a:endParaRPr lang="en-US" sz="1600" dirty="0"/>
          </a:p>
        </p:txBody>
      </p:sp>
      <p:sp>
        <p:nvSpPr>
          <p:cNvPr id="10" name="Arrow"/>
          <p:cNvSpPr/>
          <p:nvPr/>
        </p:nvSpPr>
        <p:spPr>
          <a:xfrm>
            <a:off x="2286000" y="2011680"/>
            <a:ext cx="50292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1" name="Arrow"/>
          <p:cNvSpPr/>
          <p:nvPr/>
        </p:nvSpPr>
        <p:spPr>
          <a:xfrm>
            <a:off x="4617720" y="2011680"/>
            <a:ext cx="50292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Arrow"/>
          <p:cNvSpPr/>
          <p:nvPr/>
        </p:nvSpPr>
        <p:spPr>
          <a:xfrm>
            <a:off x="6949440" y="2011680"/>
            <a:ext cx="50292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Arrow"/>
          <p:cNvSpPr/>
          <p:nvPr/>
        </p:nvSpPr>
        <p:spPr>
          <a:xfrm>
            <a:off x="9281160" y="2011680"/>
            <a:ext cx="50292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Arrow"/>
          <p:cNvSpPr/>
          <p:nvPr/>
        </p:nvSpPr>
        <p:spPr>
          <a:xfrm>
            <a:off x="10698480" y="2423160"/>
            <a:ext cx="0" cy="59436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Router decision"/>
          <p:cNvSpPr/>
          <p:nvPr/>
        </p:nvSpPr>
        <p:spPr>
          <a:xfrm>
            <a:off x="9509760" y="3108960"/>
            <a:ext cx="2377440" cy="1463040"/>
          </a:xfrm>
          <a:prstGeom prst="diamond">
            <a:avLst/>
          </a:prstGeom>
          <a:solidFill>
            <a:srgbClr val="FBFFC8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6" name="Router label"/>
          <p:cNvSpPr txBox="1"/>
          <p:nvPr/>
        </p:nvSpPr>
        <p:spPr>
          <a:xfrm>
            <a:off x="9692640" y="35204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Upgrade needed?</a:t>
            </a:r>
            <a:endParaRPr lang="en-US" sz="1400" dirty="0"/>
          </a:p>
        </p:txBody>
      </p:sp>
      <p:sp>
        <p:nvSpPr>
          <p:cNvPr id="17" name="Arrow"/>
          <p:cNvSpPr/>
          <p:nvPr/>
        </p:nvSpPr>
        <p:spPr>
          <a:xfrm flipH="1">
            <a:off x="8366760" y="3840480"/>
            <a:ext cx="114300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18" name="Arrow"/>
          <p:cNvSpPr/>
          <p:nvPr/>
        </p:nvSpPr>
        <p:spPr>
          <a:xfrm flipV="1">
            <a:off x="8366760" y="2423160"/>
            <a:ext cx="0" cy="141732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9" name="Rework label"/>
          <p:cNvSpPr txBox="1"/>
          <p:nvPr/>
        </p:nvSpPr>
        <p:spPr>
          <a:xfrm>
            <a:off x="5806440" y="2971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Yes: rework (max 2 loops)</a:t>
            </a:r>
            <a:endParaRPr lang="en-US" sz="1400" dirty="0"/>
          </a:p>
        </p:txBody>
      </p:sp>
      <p:sp>
        <p:nvSpPr>
          <p:cNvPr id="20" name="Arrow"/>
          <p:cNvSpPr/>
          <p:nvPr/>
        </p:nvSpPr>
        <p:spPr>
          <a:xfrm>
            <a:off x="10698480" y="4572000"/>
            <a:ext cx="0" cy="41148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1" name="No label"/>
          <p:cNvSpPr txBox="1"/>
          <p:nvPr/>
        </p:nvSpPr>
        <p:spPr>
          <a:xfrm>
            <a:off x="10789920" y="46177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</a:t>
            </a:r>
            <a:endParaRPr lang="en-US" sz="1400" dirty="0"/>
          </a:p>
        </p:txBody>
      </p:sp>
      <p:sp>
        <p:nvSpPr>
          <p:cNvPr id="22" name="Node Human gate"/>
          <p:cNvSpPr txBox="1"/>
          <p:nvPr/>
        </p:nvSpPr>
        <p:spPr>
          <a:xfrm>
            <a:off x="9784080" y="498348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FBFFC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Human approval gate</a:t>
            </a:r>
            <a:endParaRPr lang="en-US" sz="1500" dirty="0"/>
          </a:p>
        </p:txBody>
      </p:sp>
      <p:sp>
        <p:nvSpPr>
          <p:cNvPr id="23" name="Node Automation"/>
          <p:cNvSpPr txBox="1"/>
          <p:nvPr/>
        </p:nvSpPr>
        <p:spPr>
          <a:xfrm>
            <a:off x="7452360" y="498348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E5AE6E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Business Automation</a:t>
            </a:r>
            <a:endParaRPr lang="en-US" sz="1500" dirty="0"/>
          </a:p>
        </p:txBody>
      </p:sp>
      <p:sp>
        <p:nvSpPr>
          <p:cNvPr id="24" name="Node Outputs"/>
          <p:cNvSpPr txBox="1"/>
          <p:nvPr/>
        </p:nvSpPr>
        <p:spPr>
          <a:xfrm>
            <a:off x="5120640" y="4983480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Work orders, monitoring list, summary</a:t>
            </a:r>
            <a:endParaRPr lang="en-US" sz="1300" dirty="0"/>
          </a:p>
        </p:txBody>
      </p:sp>
      <p:sp>
        <p:nvSpPr>
          <p:cNvPr id="25" name="Arrow"/>
          <p:cNvSpPr/>
          <p:nvPr/>
        </p:nvSpPr>
        <p:spPr>
          <a:xfrm flipH="1">
            <a:off x="9281160" y="5417820"/>
            <a:ext cx="50292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6" name="Arrow"/>
          <p:cNvSpPr/>
          <p:nvPr/>
        </p:nvSpPr>
        <p:spPr>
          <a:xfrm flipH="1">
            <a:off x="6949440" y="5417820"/>
            <a:ext cx="50292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7" name="A2A panel"/>
          <p:cNvSpPr/>
          <p:nvPr/>
        </p:nvSpPr>
        <p:spPr>
          <a:xfrm>
            <a:off x="457200" y="3017520"/>
            <a:ext cx="4480560" cy="2834640"/>
          </a:xfrm>
          <a:prstGeom prst="roundRect">
            <a:avLst>
              <a:gd name="adj" fmla="val 1935"/>
            </a:avLst>
          </a:prstGeom>
          <a:solidFill>
            <a:srgbClr val="0F1D2A"/>
          </a:solidFill>
          <a:ln w="12700">
            <a:solidFill>
              <a:srgbClr val="0F1D2A"/>
            </a:solidFill>
            <a:prstDash val="solid"/>
          </a:ln>
        </p:spPr>
      </p:sp>
      <p:sp>
        <p:nvSpPr>
          <p:cNvPr id="28" name="A2A heading"/>
          <p:cNvSpPr txBox="1"/>
          <p:nvPr/>
        </p:nvSpPr>
        <p:spPr>
          <a:xfrm>
            <a:off x="640080" y="3108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A2A message bus</a:t>
            </a:r>
            <a:endParaRPr lang="en-US" sz="2200" dirty="0"/>
          </a:p>
        </p:txBody>
      </p:sp>
      <p:sp>
        <p:nvSpPr>
          <p:cNvPr id="29" name="A2A text"/>
          <p:cNvSpPr txBox="1"/>
          <p:nvPr/>
        </p:nvSpPr>
        <p:spPr>
          <a:xfrm>
            <a:off x="640080" y="352044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Every handoff is a typed message: trace_id, sender, receiver, intent, payload.</a:t>
            </a:r>
            <a:endParaRPr lang="en-US" sz="1500" dirty="0"/>
          </a:p>
        </p:txBody>
      </p:sp>
      <p:sp>
        <p:nvSpPr>
          <p:cNvPr id="30" name="A2A intents"/>
          <p:cNvSpPr txBox="1"/>
          <p:nvPr/>
        </p:nvSpPr>
        <p:spPr>
          <a:xfrm>
            <a:off x="640080" y="429768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TRIAGE_REQUEST → TASK_PLAN → ENRICHED_BATCH → RISK_RESULTS → CRITIC_VERDICTS → OBJECTION / REWORK → RUN_COMPLETE</a:t>
            </a:r>
            <a:endParaRPr lang="en-US" sz="1600" dirty="0"/>
          </a:p>
        </p:txBody>
      </p:sp>
      <p:sp>
        <p:nvSpPr>
          <p:cNvPr id="31" name="Workflow caption"/>
          <p:cNvSpPr txBox="1"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Unresolved upgrades after 2 loops escalate to the more severe class; final class is never below the Critic's screen.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Architecture: six layers from UI to outputs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What are the components, and where does data flow between them?</a:t>
            </a:r>
            <a:endParaRPr lang="en-US" sz="1500" dirty="0"/>
          </a:p>
        </p:txBody>
      </p:sp>
      <p:sp>
        <p:nvSpPr>
          <p:cNvPr id="5" name="Layer Interface"/>
          <p:cNvSpPr txBox="1"/>
          <p:nvPr/>
        </p:nvSpPr>
        <p:spPr>
          <a:xfrm>
            <a:off x="457200" y="1508760"/>
            <a:ext cx="2286000" cy="713232"/>
          </a:xfrm>
          <a:prstGeom prst="roundRect">
            <a:avLst>
              <a:gd name="adj" fmla="val 10256"/>
            </a:avLst>
          </a:prstGeom>
          <a:solidFill>
            <a:srgbClr val="6FA8E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Interface</a:t>
            </a:r>
            <a:endParaRPr lang="en-US" sz="1800" dirty="0"/>
          </a:p>
        </p:txBody>
      </p:sp>
      <p:sp>
        <p:nvSpPr>
          <p:cNvPr id="6" name="Layer panel Interface"/>
          <p:cNvSpPr/>
          <p:nvPr/>
        </p:nvSpPr>
        <p:spPr>
          <a:xfrm>
            <a:off x="2834640" y="1508760"/>
            <a:ext cx="889711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Layer text Interface"/>
          <p:cNvSpPr txBox="1"/>
          <p:nvPr/>
        </p:nvSpPr>
        <p:spPr>
          <a:xfrm>
            <a:off x="3017520" y="1508760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Streamlit UI with 8 pages  ·  human approval gate for IMMEDIATE items</a:t>
            </a:r>
            <a:endParaRPr lang="en-US" sz="1500" dirty="0"/>
          </a:p>
        </p:txBody>
      </p:sp>
      <p:sp>
        <p:nvSpPr>
          <p:cNvPr id="8" name="Layer Orchestration"/>
          <p:cNvSpPr txBox="1"/>
          <p:nvPr/>
        </p:nvSpPr>
        <p:spPr>
          <a:xfrm>
            <a:off x="457200" y="2313432"/>
            <a:ext cx="2286000" cy="713232"/>
          </a:xfrm>
          <a:prstGeom prst="roundRect">
            <a:avLst>
              <a:gd name="adj" fmla="val 10256"/>
            </a:avLst>
          </a:prstGeom>
          <a:solidFill>
            <a:srgbClr val="0F1D2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Orchestration</a:t>
            </a:r>
            <a:endParaRPr lang="en-US" sz="1800" dirty="0"/>
          </a:p>
        </p:txBody>
      </p:sp>
      <p:sp>
        <p:nvSpPr>
          <p:cNvPr id="9" name="Layer panel Orchestration"/>
          <p:cNvSpPr/>
          <p:nvPr/>
        </p:nvSpPr>
        <p:spPr>
          <a:xfrm>
            <a:off x="2834640" y="2313432"/>
            <a:ext cx="889711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Layer text Orchestration"/>
          <p:cNvSpPr txBox="1"/>
          <p:nvPr/>
        </p:nvSpPr>
        <p:spPr>
          <a:xfrm>
            <a:off x="3017520" y="2313432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LangGraph StateGraph  ·  typed shared state  ·  conditional router  ·  A2A bus and agent cards</a:t>
            </a:r>
            <a:endParaRPr lang="en-US" sz="1500" dirty="0"/>
          </a:p>
        </p:txBody>
      </p:sp>
      <p:sp>
        <p:nvSpPr>
          <p:cNvPr id="11" name="Layer Agents"/>
          <p:cNvSpPr txBox="1"/>
          <p:nvPr/>
        </p:nvSpPr>
        <p:spPr>
          <a:xfrm>
            <a:off x="457200" y="3118104"/>
            <a:ext cx="2286000" cy="713232"/>
          </a:xfrm>
          <a:prstGeom prst="roundRect">
            <a:avLst>
              <a:gd name="adj" fmla="val 10256"/>
            </a:avLst>
          </a:prstGeom>
          <a:solidFill>
            <a:srgbClr val="B5483E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Agents</a:t>
            </a:r>
            <a:endParaRPr lang="en-US" sz="1800" dirty="0"/>
          </a:p>
        </p:txBody>
      </p:sp>
      <p:sp>
        <p:nvSpPr>
          <p:cNvPr id="12" name="Layer panel Agents"/>
          <p:cNvSpPr/>
          <p:nvPr/>
        </p:nvSpPr>
        <p:spPr>
          <a:xfrm>
            <a:off x="2834640" y="3118104"/>
            <a:ext cx="889711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Layer text Agents"/>
          <p:cNvSpPr txBox="1"/>
          <p:nvPr/>
        </p:nvSpPr>
        <p:spPr>
          <a:xfrm>
            <a:off x="3017520" y="3118104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Planner  ·  Research  ·  Executor  ·  Critic  ·  Business Automation</a:t>
            </a:r>
            <a:endParaRPr lang="en-US" sz="1500" dirty="0"/>
          </a:p>
        </p:txBody>
      </p:sp>
      <p:sp>
        <p:nvSpPr>
          <p:cNvPr id="14" name="Layer Tools"/>
          <p:cNvSpPr txBox="1"/>
          <p:nvPr/>
        </p:nvSpPr>
        <p:spPr>
          <a:xfrm>
            <a:off x="457200" y="3922776"/>
            <a:ext cx="2286000" cy="713232"/>
          </a:xfrm>
          <a:prstGeom prst="roundRect">
            <a:avLst>
              <a:gd name="adj" fmla="val 10256"/>
            </a:avLst>
          </a:prstGeom>
          <a:solidFill>
            <a:srgbClr val="7AA7B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Tools</a:t>
            </a:r>
            <a:endParaRPr lang="en-US" sz="1800" dirty="0"/>
          </a:p>
        </p:txBody>
      </p:sp>
      <p:sp>
        <p:nvSpPr>
          <p:cNvPr id="15" name="Layer panel Tools"/>
          <p:cNvSpPr/>
          <p:nvPr/>
        </p:nvSpPr>
        <p:spPr>
          <a:xfrm>
            <a:off x="2834640" y="3922776"/>
            <a:ext cx="889711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Layer text Tools"/>
          <p:cNvSpPr txBox="1"/>
          <p:nvPr/>
        </p:nvSpPr>
        <p:spPr>
          <a:xfrm>
            <a:off x="3017520" y="3922776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b31g (safe pressure)  ·  risk (ERF, score, triage)  ·  lookup  ·  clustering  ·  quality</a:t>
            </a:r>
            <a:endParaRPr lang="en-US" sz="1500" dirty="0"/>
          </a:p>
        </p:txBody>
      </p:sp>
      <p:sp>
        <p:nvSpPr>
          <p:cNvPr id="17" name="Layer Data and model"/>
          <p:cNvSpPr txBox="1"/>
          <p:nvPr/>
        </p:nvSpPr>
        <p:spPr>
          <a:xfrm>
            <a:off x="457200" y="4727448"/>
            <a:ext cx="2286000" cy="713232"/>
          </a:xfrm>
          <a:prstGeom prst="roundRect">
            <a:avLst>
              <a:gd name="adj" fmla="val 10256"/>
            </a:avLst>
          </a:prstGeom>
          <a:solidFill>
            <a:srgbClr val="EBDD7F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Data and model</a:t>
            </a:r>
            <a:endParaRPr lang="en-US" sz="1800" dirty="0"/>
          </a:p>
        </p:txBody>
      </p:sp>
      <p:sp>
        <p:nvSpPr>
          <p:cNvPr id="18" name="Layer panel Data and model"/>
          <p:cNvSpPr/>
          <p:nvPr/>
        </p:nvSpPr>
        <p:spPr>
          <a:xfrm>
            <a:off x="2834640" y="4727448"/>
            <a:ext cx="889711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Layer text Data and model"/>
          <p:cNvSpPr txBox="1"/>
          <p:nvPr/>
        </p:nvSpPr>
        <p:spPr>
          <a:xfrm>
            <a:off x="3017520" y="4727448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Synthetic ILI CSV  ·  pipeline and HCA metadata  ·  MockChatModel (swappable)  ·  Pydantic validation</a:t>
            </a:r>
            <a:endParaRPr lang="en-US" sz="1500" dirty="0"/>
          </a:p>
        </p:txBody>
      </p:sp>
      <p:sp>
        <p:nvSpPr>
          <p:cNvPr id="20" name="Layer Outputs"/>
          <p:cNvSpPr txBox="1"/>
          <p:nvPr/>
        </p:nvSpPr>
        <p:spPr>
          <a:xfrm>
            <a:off x="457200" y="5532120"/>
            <a:ext cx="2286000" cy="713232"/>
          </a:xfrm>
          <a:prstGeom prst="roundRect">
            <a:avLst>
              <a:gd name="adj" fmla="val 10256"/>
            </a:avLst>
          </a:prstGeom>
          <a:solidFill>
            <a:srgbClr val="E5AE6E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Outputs</a:t>
            </a:r>
            <a:endParaRPr lang="en-US" sz="1800" dirty="0"/>
          </a:p>
        </p:txBody>
      </p:sp>
      <p:sp>
        <p:nvSpPr>
          <p:cNvPr id="21" name="Layer panel Outputs"/>
          <p:cNvSpPr/>
          <p:nvPr/>
        </p:nvSpPr>
        <p:spPr>
          <a:xfrm>
            <a:off x="2834640" y="5532120"/>
            <a:ext cx="889711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Layer text Outputs"/>
          <p:cNvSpPr txBox="1"/>
          <p:nvPr/>
        </p:nvSpPr>
        <p:spPr>
          <a:xfrm>
            <a:off x="3017520" y="5532120"/>
            <a:ext cx="8595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Work orders  ·  scheduled monitoring list  ·  notifications  ·  engineer summary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Every finding becomes a traceable decision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How does a measurement turn into a triage class and a work product?</a:t>
            </a:r>
            <a:endParaRPr lang="en-US" sz="1500" dirty="0"/>
          </a:p>
        </p:txBody>
      </p:sp>
      <p:sp>
        <p:nvSpPr>
          <p:cNvPr id="5" name="Step panel Safe pressure"/>
          <p:cNvSpPr/>
          <p:nvPr/>
        </p:nvSpPr>
        <p:spPr>
          <a:xfrm>
            <a:off x="457200" y="1508760"/>
            <a:ext cx="57607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tep number 1"/>
          <p:cNvSpPr txBox="1"/>
          <p:nvPr/>
        </p:nvSpPr>
        <p:spPr>
          <a:xfrm>
            <a:off x="640080" y="1728216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Step title Safe pressure"/>
          <p:cNvSpPr txBox="1"/>
          <p:nvPr/>
        </p:nvSpPr>
        <p:spPr>
          <a:xfrm>
            <a:off x="146304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Safe pressure</a:t>
            </a:r>
            <a:endParaRPr lang="en-US" sz="1800" dirty="0"/>
          </a:p>
        </p:txBody>
      </p:sp>
      <p:sp>
        <p:nvSpPr>
          <p:cNvPr id="8" name="Step text Safe pressure"/>
          <p:cNvSpPr txBox="1"/>
          <p:nvPr/>
        </p:nvSpPr>
        <p:spPr>
          <a:xfrm>
            <a:off x="1463040" y="196596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Modified B31G remaining strength from depth, length, wall thickness and SMYS.</a:t>
            </a:r>
            <a:endParaRPr lang="en-US" sz="1400" dirty="0"/>
          </a:p>
        </p:txBody>
      </p:sp>
      <p:sp>
        <p:nvSpPr>
          <p:cNvPr id="9" name="Step panel ERF"/>
          <p:cNvSpPr/>
          <p:nvPr/>
        </p:nvSpPr>
        <p:spPr>
          <a:xfrm>
            <a:off x="457200" y="2697480"/>
            <a:ext cx="57607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ep number 2"/>
          <p:cNvSpPr txBox="1"/>
          <p:nvPr/>
        </p:nvSpPr>
        <p:spPr>
          <a:xfrm>
            <a:off x="640080" y="2916936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Step title ERF"/>
          <p:cNvSpPr txBox="1"/>
          <p:nvPr/>
        </p:nvSpPr>
        <p:spPr>
          <a:xfrm>
            <a:off x="1463040" y="2788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ERF</a:t>
            </a:r>
            <a:endParaRPr lang="en-US" sz="1800" dirty="0"/>
          </a:p>
        </p:txBody>
      </p:sp>
      <p:sp>
        <p:nvSpPr>
          <p:cNvPr id="12" name="Step text ERF"/>
          <p:cNvSpPr txBox="1"/>
          <p:nvPr/>
        </p:nvSpPr>
        <p:spPr>
          <a:xfrm>
            <a:off x="1463040" y="315468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MAOP divided by safe pressure; 1.0 or above means the defect is not safe at MAOP.</a:t>
            </a:r>
            <a:endParaRPr lang="en-US" sz="1400" dirty="0"/>
          </a:p>
        </p:txBody>
      </p:sp>
      <p:sp>
        <p:nvSpPr>
          <p:cNvPr id="13" name="Step panel Projection"/>
          <p:cNvSpPr/>
          <p:nvPr/>
        </p:nvSpPr>
        <p:spPr>
          <a:xfrm>
            <a:off x="457200" y="3886200"/>
            <a:ext cx="57607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 number 3"/>
          <p:cNvSpPr txBox="1"/>
          <p:nvPr/>
        </p:nvSpPr>
        <p:spPr>
          <a:xfrm>
            <a:off x="640080" y="4105656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Step title Projection"/>
          <p:cNvSpPr txBox="1"/>
          <p:nvPr/>
        </p:nvSpPr>
        <p:spPr>
          <a:xfrm>
            <a:off x="1463040" y="3977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Projection</a:t>
            </a:r>
            <a:endParaRPr lang="en-US" sz="1800" dirty="0"/>
          </a:p>
        </p:txBody>
      </p:sp>
      <p:sp>
        <p:nvSpPr>
          <p:cNvPr id="16" name="Step text Projection"/>
          <p:cNvSpPr txBox="1"/>
          <p:nvPr/>
        </p:nvSpPr>
        <p:spPr>
          <a:xfrm>
            <a:off x="1463040" y="434340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Depth projected two years ahead using the growth rate between runs.</a:t>
            </a:r>
            <a:endParaRPr lang="en-US" sz="1400" dirty="0"/>
          </a:p>
        </p:txBody>
      </p:sp>
      <p:sp>
        <p:nvSpPr>
          <p:cNvPr id="17" name="Step panel Risk score"/>
          <p:cNvSpPr/>
          <p:nvPr/>
        </p:nvSpPr>
        <p:spPr>
          <a:xfrm>
            <a:off x="457200" y="5074920"/>
            <a:ext cx="576072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ep number 4"/>
          <p:cNvSpPr txBox="1"/>
          <p:nvPr/>
        </p:nvSpPr>
        <p:spPr>
          <a:xfrm>
            <a:off x="640080" y="5294376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9" name="Step title Risk score"/>
          <p:cNvSpPr txBox="1"/>
          <p:nvPr/>
        </p:nvSpPr>
        <p:spPr>
          <a:xfrm>
            <a:off x="1463040" y="5166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Risk score</a:t>
            </a:r>
            <a:endParaRPr lang="en-US" sz="1800" dirty="0"/>
          </a:p>
        </p:txBody>
      </p:sp>
      <p:sp>
        <p:nvSpPr>
          <p:cNvPr id="20" name="Step text Risk score"/>
          <p:cNvSpPr txBox="1"/>
          <p:nvPr/>
        </p:nvSpPr>
        <p:spPr>
          <a:xfrm>
            <a:off x="1463040" y="553212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0.6 × likelihood + 0.4 × consequence, with the contributing factors listed.</a:t>
            </a:r>
            <a:endParaRPr lang="en-US" sz="1400" dirty="0"/>
          </a:p>
        </p:txBody>
      </p:sp>
      <p:sp>
        <p:nvSpPr>
          <p:cNvPr id="21" name="Class tile IMMEDIATE"/>
          <p:cNvSpPr/>
          <p:nvPr/>
        </p:nvSpPr>
        <p:spPr>
          <a:xfrm>
            <a:off x="6492240" y="1508760"/>
            <a:ext cx="2542032" cy="2286000"/>
          </a:xfrm>
          <a:prstGeom prst="roundRect">
            <a:avLst>
              <a:gd name="adj" fmla="val 2400"/>
            </a:avLst>
          </a:prstGeom>
          <a:solidFill>
            <a:srgbClr val="B5483E"/>
          </a:solidFill>
          <a:ln w="12700">
            <a:solidFill>
              <a:srgbClr val="B5483E"/>
            </a:solidFill>
            <a:prstDash val="solid"/>
          </a:ln>
        </p:spPr>
      </p:sp>
      <p:sp>
        <p:nvSpPr>
          <p:cNvPr id="22" name="Class name IMMEDIATE"/>
          <p:cNvSpPr txBox="1"/>
          <p:nvPr/>
        </p:nvSpPr>
        <p:spPr>
          <a:xfrm>
            <a:off x="6629400" y="169164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IMMEDIATE</a:t>
            </a:r>
            <a:endParaRPr lang="en-US" sz="2600" dirty="0"/>
          </a:p>
        </p:txBody>
      </p:sp>
      <p:sp>
        <p:nvSpPr>
          <p:cNvPr id="23" name="Class text IMMEDIATE"/>
          <p:cNvSpPr txBox="1"/>
          <p:nvPr/>
        </p:nvSpPr>
        <p:spPr>
          <a:xfrm>
            <a:off x="6629400" y="2377440"/>
            <a:ext cx="22677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Work order, held until an engineer approves</a:t>
            </a:r>
            <a:endParaRPr lang="en-US" sz="1800" dirty="0"/>
          </a:p>
        </p:txBody>
      </p:sp>
      <p:sp>
        <p:nvSpPr>
          <p:cNvPr id="24" name="Class tile 60-DAY"/>
          <p:cNvSpPr/>
          <p:nvPr/>
        </p:nvSpPr>
        <p:spPr>
          <a:xfrm>
            <a:off x="9189720" y="1508760"/>
            <a:ext cx="2542032" cy="2286000"/>
          </a:xfrm>
          <a:prstGeom prst="roundRect">
            <a:avLst>
              <a:gd name="adj" fmla="val 2400"/>
            </a:avLst>
          </a:prstGeom>
          <a:solidFill>
            <a:srgbClr val="E5AE6E"/>
          </a:solidFill>
          <a:ln w="12700">
            <a:solidFill>
              <a:srgbClr val="E5AE6E"/>
            </a:solidFill>
            <a:prstDash val="solid"/>
          </a:ln>
        </p:spPr>
      </p:sp>
      <p:sp>
        <p:nvSpPr>
          <p:cNvPr id="25" name="Class name 60-DAY"/>
          <p:cNvSpPr txBox="1"/>
          <p:nvPr/>
        </p:nvSpPr>
        <p:spPr>
          <a:xfrm>
            <a:off x="9326880" y="169164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60-DAY</a:t>
            </a:r>
            <a:endParaRPr lang="en-US" sz="2600" dirty="0"/>
          </a:p>
        </p:txBody>
      </p:sp>
      <p:sp>
        <p:nvSpPr>
          <p:cNvPr id="26" name="Class text 60-DAY"/>
          <p:cNvSpPr txBox="1"/>
          <p:nvPr/>
        </p:nvSpPr>
        <p:spPr>
          <a:xfrm>
            <a:off x="9326880" y="2377440"/>
            <a:ext cx="22677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Work order issued</a:t>
            </a:r>
            <a:endParaRPr lang="en-US" sz="1800" dirty="0"/>
          </a:p>
        </p:txBody>
      </p:sp>
      <p:sp>
        <p:nvSpPr>
          <p:cNvPr id="27" name="Class tile 180-DAY"/>
          <p:cNvSpPr/>
          <p:nvPr/>
        </p:nvSpPr>
        <p:spPr>
          <a:xfrm>
            <a:off x="6492240" y="3931920"/>
            <a:ext cx="2542032" cy="2286000"/>
          </a:xfrm>
          <a:prstGeom prst="roundRect">
            <a:avLst>
              <a:gd name="adj" fmla="val 2400"/>
            </a:avLst>
          </a:prstGeom>
          <a:solidFill>
            <a:srgbClr val="FBFFC8"/>
          </a:solidFill>
          <a:ln w="12700">
            <a:solidFill>
              <a:srgbClr val="FBFFC8"/>
            </a:solidFill>
            <a:prstDash val="solid"/>
          </a:ln>
        </p:spPr>
      </p:sp>
      <p:sp>
        <p:nvSpPr>
          <p:cNvPr id="28" name="Class name 180-DAY"/>
          <p:cNvSpPr txBox="1"/>
          <p:nvPr/>
        </p:nvSpPr>
        <p:spPr>
          <a:xfrm>
            <a:off x="6629400" y="41148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180-DAY</a:t>
            </a:r>
            <a:endParaRPr lang="en-US" sz="2600" dirty="0"/>
          </a:p>
        </p:txBody>
      </p:sp>
      <p:sp>
        <p:nvSpPr>
          <p:cNvPr id="29" name="Class text 180-DAY"/>
          <p:cNvSpPr txBox="1"/>
          <p:nvPr/>
        </p:nvSpPr>
        <p:spPr>
          <a:xfrm>
            <a:off x="6629400" y="4800600"/>
            <a:ext cx="22677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Added to the scheduled monitoring list</a:t>
            </a:r>
            <a:endParaRPr lang="en-US" sz="1800" dirty="0"/>
          </a:p>
        </p:txBody>
      </p:sp>
      <p:sp>
        <p:nvSpPr>
          <p:cNvPr id="30" name="Class tile MONITOR"/>
          <p:cNvSpPr/>
          <p:nvPr/>
        </p:nvSpPr>
        <p:spPr>
          <a:xfrm>
            <a:off x="9189720" y="3931920"/>
            <a:ext cx="2542032" cy="2286000"/>
          </a:xfrm>
          <a:prstGeom prst="roundRect">
            <a:avLst>
              <a:gd name="adj" fmla="val 2400"/>
            </a:avLst>
          </a:prstGeom>
          <a:solidFill>
            <a:srgbClr val="6FA8E4"/>
          </a:solidFill>
          <a:ln w="12700">
            <a:solidFill>
              <a:srgbClr val="6FA8E4"/>
            </a:solidFill>
            <a:prstDash val="solid"/>
          </a:ln>
        </p:spPr>
      </p:sp>
      <p:sp>
        <p:nvSpPr>
          <p:cNvPr id="31" name="Class name MONITOR"/>
          <p:cNvSpPr txBox="1"/>
          <p:nvPr/>
        </p:nvSpPr>
        <p:spPr>
          <a:xfrm>
            <a:off x="9326880" y="41148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MONITOR</a:t>
            </a:r>
            <a:endParaRPr lang="en-US" sz="2600" dirty="0"/>
          </a:p>
        </p:txBody>
      </p:sp>
      <p:sp>
        <p:nvSpPr>
          <p:cNvPr id="32" name="Class text MONITOR"/>
          <p:cNvSpPr txBox="1"/>
          <p:nvPr/>
        </p:nvSpPr>
        <p:spPr>
          <a:xfrm>
            <a:off x="9326880" y="4800600"/>
            <a:ext cx="22677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 work order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Synthetic data with planted misses and an independent truth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Can we measure missed critical defects without real operator data?</a:t>
            </a:r>
            <a:endParaRPr lang="en-US" sz="1500" dirty="0"/>
          </a:p>
        </p:txBody>
      </p:sp>
      <p:sp>
        <p:nvSpPr>
          <p:cNvPr id="5" name="Data KPI Anomalies per run"/>
          <p:cNvSpPr txBox="1"/>
          <p:nvPr/>
        </p:nvSpPr>
        <p:spPr>
          <a:xfrm>
            <a:off x="457200" y="150876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6FA8E4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Anomalies per run</a:t>
            </a:r>
            <a:endParaRPr lang="en-US" sz="1400" dirty="0"/>
          </a:p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300</a:t>
            </a:r>
            <a:endParaRPr lang="en-US" sz="1400" dirty="0"/>
          </a:p>
        </p:txBody>
      </p:sp>
      <p:sp>
        <p:nvSpPr>
          <p:cNvPr id="6" name="Data KPI Pipelines"/>
          <p:cNvSpPr txBox="1"/>
          <p:nvPr/>
        </p:nvSpPr>
        <p:spPr>
          <a:xfrm>
            <a:off x="3291840" y="150876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BFFC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Pipelines</a:t>
            </a:r>
            <a:endParaRPr lang="en-US" sz="1400" dirty="0"/>
          </a:p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7" name="Data KPI Truly critical"/>
          <p:cNvSpPr txBox="1"/>
          <p:nvPr/>
        </p:nvSpPr>
        <p:spPr>
          <a:xfrm>
            <a:off x="6126480" y="150876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E5AE6E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Truly critical</a:t>
            </a:r>
            <a:endParaRPr lang="en-US" sz="1400" dirty="0"/>
          </a:p>
          <a:p>
            <a:pPr algn="ctr" indent="0" marL="0">
              <a:buNone/>
            </a:pPr>
            <a:r>
              <a:rPr lang="en-US" sz="3400" dirty="0">
                <a:solidFill>
                  <a:schemeClr val="tx1"/>
                </a:solidFill>
              </a:rPr>
              <a:t>30</a:t>
            </a:r>
            <a:endParaRPr lang="en-US" sz="1400" dirty="0"/>
          </a:p>
        </p:txBody>
      </p:sp>
      <p:sp>
        <p:nvSpPr>
          <p:cNvPr id="8" name="Data KPI Missed by legacy labels"/>
          <p:cNvSpPr txBox="1"/>
          <p:nvPr/>
        </p:nvSpPr>
        <p:spPr>
          <a:xfrm>
            <a:off x="8961120" y="150876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B5483E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Missed by legacy labels</a:t>
            </a:r>
            <a:endParaRPr lang="en-US" sz="1400" dirty="0"/>
          </a:p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20</a:t>
            </a:r>
            <a:endParaRPr lang="en-US" sz="1400" dirty="0"/>
          </a:p>
        </p:txBody>
      </p:sp>
      <p:sp>
        <p:nvSpPr>
          <p:cNvPr id="9" name="True class chart panel"/>
          <p:cNvSpPr/>
          <p:nvPr/>
        </p:nvSpPr>
        <p:spPr>
          <a:xfrm>
            <a:off x="457200" y="2926080"/>
            <a:ext cx="5486400" cy="338328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Chart title"/>
          <p:cNvSpPr txBox="1"/>
          <p:nvPr/>
        </p:nvSpPr>
        <p:spPr>
          <a:xfrm>
            <a:off x="640080" y="29992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How are the true classes distributed?</a:t>
            </a:r>
            <a:endParaRPr lang="en-US" sz="16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48640" y="3383280"/>
          <a:ext cx="53035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Data generation panel"/>
          <p:cNvSpPr/>
          <p:nvPr/>
        </p:nvSpPr>
        <p:spPr>
          <a:xfrm>
            <a:off x="6217920" y="2926080"/>
            <a:ext cx="5513832" cy="3383280"/>
          </a:xfrm>
          <a:prstGeom prst="roundRect">
            <a:avLst>
              <a:gd name="adj" fmla="val 1622"/>
            </a:avLst>
          </a:prstGeom>
          <a:solidFill>
            <a:srgbClr val="0F1D2A"/>
          </a:solidFill>
          <a:ln w="12700">
            <a:solidFill>
              <a:srgbClr val="0F1D2A"/>
            </a:solidFill>
            <a:prstDash val="solid"/>
          </a:ln>
        </p:spPr>
      </p:sp>
      <p:sp>
        <p:nvSpPr>
          <p:cNvPr id="13" name="Data heading"/>
          <p:cNvSpPr txBox="1"/>
          <p:nvPr/>
        </p:nvSpPr>
        <p:spPr>
          <a:xfrm>
            <a:off x="6400800" y="30175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How the data is generated</a:t>
            </a:r>
            <a:endParaRPr lang="en-US" sz="2000" dirty="0"/>
          </a:p>
        </p:txBody>
      </p:sp>
      <p:sp>
        <p:nvSpPr>
          <p:cNvPr id="14" name="Data bullets"/>
          <p:cNvSpPr txBox="1"/>
          <p:nvPr/>
        </p:nvSpPr>
        <p:spPr>
          <a:xfrm>
            <a:off x="6309360" y="3520440"/>
            <a:ext cx="5349240" cy="27432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</a:rPr>
              <a:t>Hidden truth: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true depth and growth per anomaly feed an independent truth model.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</a:rPr>
              <a:t>Observed values: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truth plus ILI sizing noise (Gaussian, σ = 10% of wall).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</a:rPr>
              <a:t>Legacy labels: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include human lapses, such as ignored growth or notes.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</a:rPr>
              <a:t>No leakage: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truth columns never reach an agent; tests enforce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Demo: eight pages from data to decision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What does the live Streamlit walkthrough show, in order?</a:t>
            </a:r>
            <a:endParaRPr lang="en-US" sz="1500" dirty="0"/>
          </a:p>
        </p:txBody>
      </p:sp>
      <p:sp>
        <p:nvSpPr>
          <p:cNvPr id="5" name="Page tile Home / Problem"/>
          <p:cNvSpPr/>
          <p:nvPr/>
        </p:nvSpPr>
        <p:spPr>
          <a:xfrm>
            <a:off x="457200" y="1508760"/>
            <a:ext cx="2697480" cy="2286000"/>
          </a:xfrm>
          <a:prstGeom prst="roundRect">
            <a:avLst>
              <a:gd name="adj" fmla="val 2400"/>
            </a:avLst>
          </a:prstGeom>
          <a:solidFill>
            <a:srgbClr val="6FA8E4"/>
          </a:solidFill>
          <a:ln w="12700">
            <a:solidFill>
              <a:srgbClr val="6FA8E4"/>
            </a:solidFill>
            <a:prstDash val="solid"/>
          </a:ln>
        </p:spPr>
      </p:sp>
      <p:sp>
        <p:nvSpPr>
          <p:cNvPr id="6" name="Page number 1"/>
          <p:cNvSpPr txBox="1"/>
          <p:nvPr/>
        </p:nvSpPr>
        <p:spPr>
          <a:xfrm>
            <a:off x="594360" y="1600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</a:t>
            </a:r>
            <a:endParaRPr lang="en-US" sz="3600" dirty="0"/>
          </a:p>
        </p:txBody>
      </p:sp>
      <p:sp>
        <p:nvSpPr>
          <p:cNvPr id="7" name="Page title Home / Problem"/>
          <p:cNvSpPr txBox="1"/>
          <p:nvPr/>
        </p:nvSpPr>
        <p:spPr>
          <a:xfrm>
            <a:off x="594360" y="22860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Home / Problem</a:t>
            </a:r>
            <a:endParaRPr lang="en-US" sz="1700" dirty="0"/>
          </a:p>
        </p:txBody>
      </p:sp>
      <p:sp>
        <p:nvSpPr>
          <p:cNvPr id="8" name="Page text Home / Problem"/>
          <p:cNvSpPr txBox="1"/>
          <p:nvPr/>
        </p:nvSpPr>
        <p:spPr>
          <a:xfrm>
            <a:off x="59436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Today's process versus the agentic process</a:t>
            </a:r>
            <a:endParaRPr lang="en-US" sz="1500" dirty="0"/>
          </a:p>
        </p:txBody>
      </p:sp>
      <p:sp>
        <p:nvSpPr>
          <p:cNvPr id="9" name="Page tile Data"/>
          <p:cNvSpPr/>
          <p:nvPr/>
        </p:nvSpPr>
        <p:spPr>
          <a:xfrm>
            <a:off x="3310128" y="1508760"/>
            <a:ext cx="2697480" cy="2286000"/>
          </a:xfrm>
          <a:prstGeom prst="roundRect">
            <a:avLst>
              <a:gd name="adj" fmla="val 2400"/>
            </a:avLst>
          </a:prstGeom>
          <a:solidFill>
            <a:srgbClr val="6FA8E4"/>
          </a:solidFill>
          <a:ln w="12700">
            <a:solidFill>
              <a:srgbClr val="6FA8E4"/>
            </a:solidFill>
            <a:prstDash val="solid"/>
          </a:ln>
        </p:spPr>
      </p:sp>
      <p:sp>
        <p:nvSpPr>
          <p:cNvPr id="10" name="Page number 2"/>
          <p:cNvSpPr txBox="1"/>
          <p:nvPr/>
        </p:nvSpPr>
        <p:spPr>
          <a:xfrm>
            <a:off x="3447288" y="1600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2</a:t>
            </a:r>
            <a:endParaRPr lang="en-US" sz="3600" dirty="0"/>
          </a:p>
        </p:txBody>
      </p:sp>
      <p:sp>
        <p:nvSpPr>
          <p:cNvPr id="11" name="Page title Data"/>
          <p:cNvSpPr txBox="1"/>
          <p:nvPr/>
        </p:nvSpPr>
        <p:spPr>
          <a:xfrm>
            <a:off x="3447288" y="22860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Data</a:t>
            </a:r>
            <a:endParaRPr lang="en-US" sz="1700" dirty="0"/>
          </a:p>
        </p:txBody>
      </p:sp>
      <p:sp>
        <p:nvSpPr>
          <p:cNvPr id="12" name="Page text Data"/>
          <p:cNvSpPr txBox="1"/>
          <p:nvPr/>
        </p:nvSpPr>
        <p:spPr>
          <a:xfrm>
            <a:off x="3447288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Use the synthetic run or upload a CSV; quality report</a:t>
            </a:r>
            <a:endParaRPr lang="en-US" sz="1500" dirty="0"/>
          </a:p>
        </p:txBody>
      </p:sp>
      <p:sp>
        <p:nvSpPr>
          <p:cNvPr id="13" name="Page tile Run Agents"/>
          <p:cNvSpPr/>
          <p:nvPr/>
        </p:nvSpPr>
        <p:spPr>
          <a:xfrm>
            <a:off x="6163056" y="1508760"/>
            <a:ext cx="2697480" cy="2286000"/>
          </a:xfrm>
          <a:prstGeom prst="roundRect">
            <a:avLst>
              <a:gd name="adj" fmla="val 2400"/>
            </a:avLst>
          </a:prstGeom>
          <a:solidFill>
            <a:srgbClr val="0F1D2A"/>
          </a:solidFill>
          <a:ln w="12700">
            <a:solidFill>
              <a:srgbClr val="0F1D2A"/>
            </a:solidFill>
            <a:prstDash val="solid"/>
          </a:ln>
        </p:spPr>
      </p:sp>
      <p:sp>
        <p:nvSpPr>
          <p:cNvPr id="14" name="Page number 3"/>
          <p:cNvSpPr txBox="1"/>
          <p:nvPr/>
        </p:nvSpPr>
        <p:spPr>
          <a:xfrm>
            <a:off x="6300216" y="1600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3</a:t>
            </a:r>
            <a:endParaRPr lang="en-US" sz="3600" dirty="0"/>
          </a:p>
        </p:txBody>
      </p:sp>
      <p:sp>
        <p:nvSpPr>
          <p:cNvPr id="15" name="Page title Run Agents"/>
          <p:cNvSpPr txBox="1"/>
          <p:nvPr/>
        </p:nvSpPr>
        <p:spPr>
          <a:xfrm>
            <a:off x="6300216" y="22860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Run Agents</a:t>
            </a:r>
            <a:endParaRPr lang="en-US" sz="1700" dirty="0"/>
          </a:p>
        </p:txBody>
      </p:sp>
      <p:sp>
        <p:nvSpPr>
          <p:cNvPr id="16" name="Page text Run Agents"/>
          <p:cNvSpPr txBox="1"/>
          <p:nvPr/>
        </p:nvSpPr>
        <p:spPr>
          <a:xfrm>
            <a:off x="6300216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Live plan, tool calls, A2A messages and rework loop</a:t>
            </a:r>
            <a:endParaRPr lang="en-US" sz="1500" dirty="0"/>
          </a:p>
        </p:txBody>
      </p:sp>
      <p:sp>
        <p:nvSpPr>
          <p:cNvPr id="17" name="Page tile Triage Results"/>
          <p:cNvSpPr/>
          <p:nvPr/>
        </p:nvSpPr>
        <p:spPr>
          <a:xfrm>
            <a:off x="9015984" y="1508760"/>
            <a:ext cx="2697480" cy="2286000"/>
          </a:xfrm>
          <a:prstGeom prst="roundRect">
            <a:avLst>
              <a:gd name="adj" fmla="val 2400"/>
            </a:avLst>
          </a:prstGeom>
          <a:solidFill>
            <a:srgbClr val="FBFFC8"/>
          </a:solidFill>
          <a:ln w="12700">
            <a:solidFill>
              <a:srgbClr val="FBFFC8"/>
            </a:solidFill>
            <a:prstDash val="solid"/>
          </a:ln>
        </p:spPr>
      </p:sp>
      <p:sp>
        <p:nvSpPr>
          <p:cNvPr id="18" name="Page number 4"/>
          <p:cNvSpPr txBox="1"/>
          <p:nvPr/>
        </p:nvSpPr>
        <p:spPr>
          <a:xfrm>
            <a:off x="9153144" y="16002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4</a:t>
            </a:r>
            <a:endParaRPr lang="en-US" sz="3600" dirty="0"/>
          </a:p>
        </p:txBody>
      </p:sp>
      <p:sp>
        <p:nvSpPr>
          <p:cNvPr id="19" name="Page title Triage Results"/>
          <p:cNvSpPr txBox="1"/>
          <p:nvPr/>
        </p:nvSpPr>
        <p:spPr>
          <a:xfrm>
            <a:off x="9153144" y="22860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Triage Results</a:t>
            </a:r>
            <a:endParaRPr lang="en-US" sz="1700" dirty="0"/>
          </a:p>
        </p:txBody>
      </p:sp>
      <p:sp>
        <p:nvSpPr>
          <p:cNvPr id="20" name="Page text Triage Results"/>
          <p:cNvSpPr txBox="1"/>
          <p:nvPr/>
        </p:nvSpPr>
        <p:spPr>
          <a:xfrm>
            <a:off x="9153144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Class, ERF, safe pressure, risk score and filters</a:t>
            </a:r>
            <a:endParaRPr lang="en-US" sz="1500" dirty="0"/>
          </a:p>
        </p:txBody>
      </p:sp>
      <p:sp>
        <p:nvSpPr>
          <p:cNvPr id="21" name="Page tile Critic Findings"/>
          <p:cNvSpPr/>
          <p:nvPr/>
        </p:nvSpPr>
        <p:spPr>
          <a:xfrm>
            <a:off x="457200" y="3931920"/>
            <a:ext cx="2697480" cy="2286000"/>
          </a:xfrm>
          <a:prstGeom prst="roundRect">
            <a:avLst>
              <a:gd name="adj" fmla="val 2400"/>
            </a:avLst>
          </a:prstGeom>
          <a:solidFill>
            <a:srgbClr val="B5483E"/>
          </a:solidFill>
          <a:ln w="12700">
            <a:solidFill>
              <a:srgbClr val="B5483E"/>
            </a:solidFill>
            <a:prstDash val="solid"/>
          </a:ln>
        </p:spPr>
      </p:sp>
      <p:sp>
        <p:nvSpPr>
          <p:cNvPr id="22" name="Page number 5"/>
          <p:cNvSpPr txBox="1"/>
          <p:nvPr/>
        </p:nvSpPr>
        <p:spPr>
          <a:xfrm>
            <a:off x="594360" y="4023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5</a:t>
            </a:r>
            <a:endParaRPr lang="en-US" sz="3600" dirty="0"/>
          </a:p>
        </p:txBody>
      </p:sp>
      <p:sp>
        <p:nvSpPr>
          <p:cNvPr id="23" name="Page title Critic Findings"/>
          <p:cNvSpPr txBox="1"/>
          <p:nvPr/>
        </p:nvSpPr>
        <p:spPr>
          <a:xfrm>
            <a:off x="594360" y="47091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Critic Findings</a:t>
            </a:r>
            <a:endParaRPr lang="en-US" sz="1700" dirty="0"/>
          </a:p>
        </p:txBody>
      </p:sp>
      <p:sp>
        <p:nvSpPr>
          <p:cNvPr id="24" name="Page text Critic Findings"/>
          <p:cNvSpPr txBox="1"/>
          <p:nvPr/>
        </p:nvSpPr>
        <p:spPr>
          <a:xfrm>
            <a:off x="594360" y="53035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Missed criticals caught versus legacy labels</a:t>
            </a:r>
            <a:endParaRPr lang="en-US" sz="1500" dirty="0"/>
          </a:p>
        </p:txBody>
      </p:sp>
      <p:sp>
        <p:nvSpPr>
          <p:cNvPr id="25" name="Page tile Approval and Work Orders"/>
          <p:cNvSpPr/>
          <p:nvPr/>
        </p:nvSpPr>
        <p:spPr>
          <a:xfrm>
            <a:off x="3310128" y="3931920"/>
            <a:ext cx="2697480" cy="2286000"/>
          </a:xfrm>
          <a:prstGeom prst="roundRect">
            <a:avLst>
              <a:gd name="adj" fmla="val 2400"/>
            </a:avLst>
          </a:prstGeom>
          <a:solidFill>
            <a:srgbClr val="E5AE6E"/>
          </a:solidFill>
          <a:ln w="12700">
            <a:solidFill>
              <a:srgbClr val="E5AE6E"/>
            </a:solidFill>
            <a:prstDash val="solid"/>
          </a:ln>
        </p:spPr>
      </p:sp>
      <p:sp>
        <p:nvSpPr>
          <p:cNvPr id="26" name="Page number 6"/>
          <p:cNvSpPr txBox="1"/>
          <p:nvPr/>
        </p:nvSpPr>
        <p:spPr>
          <a:xfrm>
            <a:off x="3447288" y="4023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6</a:t>
            </a:r>
            <a:endParaRPr lang="en-US" sz="3600" dirty="0"/>
          </a:p>
        </p:txBody>
      </p:sp>
      <p:sp>
        <p:nvSpPr>
          <p:cNvPr id="27" name="Page title Approval and Work Orders"/>
          <p:cNvSpPr txBox="1"/>
          <p:nvPr/>
        </p:nvSpPr>
        <p:spPr>
          <a:xfrm>
            <a:off x="3447288" y="47091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Approval and Work Orders</a:t>
            </a:r>
            <a:endParaRPr lang="en-US" sz="1700" dirty="0"/>
          </a:p>
        </p:txBody>
      </p:sp>
      <p:sp>
        <p:nvSpPr>
          <p:cNvPr id="28" name="Page text Approval and Work Orders"/>
          <p:cNvSpPr txBox="1"/>
          <p:nvPr/>
        </p:nvSpPr>
        <p:spPr>
          <a:xfrm>
            <a:off x="3447288" y="53035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Approve IMMEDIATE items, download outputs</a:t>
            </a:r>
            <a:endParaRPr lang="en-US" sz="1500" dirty="0"/>
          </a:p>
        </p:txBody>
      </p:sp>
      <p:sp>
        <p:nvSpPr>
          <p:cNvPr id="29" name="Page tile Validation and Metrics"/>
          <p:cNvSpPr/>
          <p:nvPr/>
        </p:nvSpPr>
        <p:spPr>
          <a:xfrm>
            <a:off x="6163056" y="3931920"/>
            <a:ext cx="2697480" cy="2286000"/>
          </a:xfrm>
          <a:prstGeom prst="roundRect">
            <a:avLst>
              <a:gd name="adj" fmla="val 2400"/>
            </a:avLst>
          </a:prstGeom>
          <a:solidFill>
            <a:srgbClr val="6FA8E4"/>
          </a:solidFill>
          <a:ln w="12700">
            <a:solidFill>
              <a:srgbClr val="6FA8E4"/>
            </a:solidFill>
            <a:prstDash val="solid"/>
          </a:ln>
        </p:spPr>
      </p:sp>
      <p:sp>
        <p:nvSpPr>
          <p:cNvPr id="30" name="Page number 7"/>
          <p:cNvSpPr txBox="1"/>
          <p:nvPr/>
        </p:nvSpPr>
        <p:spPr>
          <a:xfrm>
            <a:off x="6300216" y="4023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7</a:t>
            </a:r>
            <a:endParaRPr lang="en-US" sz="3600" dirty="0"/>
          </a:p>
        </p:txBody>
      </p:sp>
      <p:sp>
        <p:nvSpPr>
          <p:cNvPr id="31" name="Page title Validation and Metrics"/>
          <p:cNvSpPr txBox="1"/>
          <p:nvPr/>
        </p:nvSpPr>
        <p:spPr>
          <a:xfrm>
            <a:off x="6300216" y="47091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Validation and Metrics</a:t>
            </a:r>
            <a:endParaRPr lang="en-US" sz="1700" dirty="0"/>
          </a:p>
        </p:txBody>
      </p:sp>
      <p:sp>
        <p:nvSpPr>
          <p:cNvPr id="32" name="Page text Validation and Metrics"/>
          <p:cNvSpPr txBox="1"/>
          <p:nvPr/>
        </p:nvSpPr>
        <p:spPr>
          <a:xfrm>
            <a:off x="6300216" y="53035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Recall, precision, confusion matrix, intervals</a:t>
            </a:r>
            <a:endParaRPr lang="en-US" sz="1500" dirty="0"/>
          </a:p>
        </p:txBody>
      </p:sp>
      <p:sp>
        <p:nvSpPr>
          <p:cNvPr id="33" name="Page tile Architecture"/>
          <p:cNvSpPr/>
          <p:nvPr/>
        </p:nvSpPr>
        <p:spPr>
          <a:xfrm>
            <a:off x="9015984" y="3931920"/>
            <a:ext cx="2697480" cy="2286000"/>
          </a:xfrm>
          <a:prstGeom prst="roundRect">
            <a:avLst>
              <a:gd name="adj" fmla="val 2400"/>
            </a:avLst>
          </a:prstGeom>
          <a:solidFill>
            <a:srgbClr val="7AA7B0"/>
          </a:solidFill>
          <a:ln w="12700">
            <a:solidFill>
              <a:srgbClr val="7AA7B0"/>
            </a:solidFill>
            <a:prstDash val="solid"/>
          </a:ln>
        </p:spPr>
      </p:sp>
      <p:sp>
        <p:nvSpPr>
          <p:cNvPr id="34" name="Page number 8"/>
          <p:cNvSpPr txBox="1"/>
          <p:nvPr/>
        </p:nvSpPr>
        <p:spPr>
          <a:xfrm>
            <a:off x="9153144" y="40233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8</a:t>
            </a:r>
            <a:endParaRPr lang="en-US" sz="3600" dirty="0"/>
          </a:p>
        </p:txBody>
      </p:sp>
      <p:sp>
        <p:nvSpPr>
          <p:cNvPr id="35" name="Page title Architecture"/>
          <p:cNvSpPr txBox="1"/>
          <p:nvPr/>
        </p:nvSpPr>
        <p:spPr>
          <a:xfrm>
            <a:off x="9153144" y="47091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Architecture</a:t>
            </a:r>
            <a:endParaRPr lang="en-US" sz="1700" dirty="0"/>
          </a:p>
        </p:txBody>
      </p:sp>
      <p:sp>
        <p:nvSpPr>
          <p:cNvPr id="36" name="Page text Architecture"/>
          <p:cNvSpPr txBox="1"/>
          <p:nvPr/>
        </p:nvSpPr>
        <p:spPr>
          <a:xfrm>
            <a:off x="9153144" y="53035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Agent cards and the component explanation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The agent pipeline catches far more critical defects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Does CorrosionGuard find what manual triage misses?</a:t>
            </a:r>
            <a:endParaRPr lang="en-US" sz="1500" dirty="0"/>
          </a:p>
        </p:txBody>
      </p:sp>
      <p:sp>
        <p:nvSpPr>
          <p:cNvPr id="5" name="Results chart panel"/>
          <p:cNvSpPr/>
          <p:nvPr/>
        </p:nvSpPr>
        <p:spPr>
          <a:xfrm>
            <a:off x="457200" y="1508760"/>
            <a:ext cx="758952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Chart title"/>
          <p:cNvSpPr txBox="1"/>
          <p:nvPr/>
        </p:nvSpPr>
        <p:spPr>
          <a:xfrm>
            <a:off x="640080" y="16002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Recall: share of truly critical anomalies flagged</a:t>
            </a:r>
            <a:endParaRPr lang="en-US" sz="17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011680"/>
          <a:ext cx="74066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Chart caption"/>
          <p:cNvSpPr txBox="1"/>
          <p:nvPr/>
        </p:nvSpPr>
        <p:spPr>
          <a:xfrm>
            <a:off x="640080" y="589788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Mean of held-out seeds 7 and 99; thresholds tuned on seed 42 only.</a:t>
            </a:r>
            <a:endParaRPr lang="en-US" sz="1200" dirty="0"/>
          </a:p>
        </p:txBody>
      </p:sp>
      <p:sp>
        <p:nvSpPr>
          <p:cNvPr id="9" name="Caught tile"/>
          <p:cNvSpPr txBox="1"/>
          <p:nvPr/>
        </p:nvSpPr>
        <p:spPr>
          <a:xfrm>
            <a:off x="8275320" y="1508760"/>
            <a:ext cx="3456432" cy="1463040"/>
          </a:xfrm>
          <a:prstGeom prst="roundRect">
            <a:avLst>
              <a:gd name="adj" fmla="val 5000"/>
            </a:avLst>
          </a:prstGeom>
          <a:solidFill>
            <a:srgbClr val="6FA8E4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Missed criticals caught per run</a:t>
            </a:r>
            <a:endParaRPr lang="en-US" sz="1400" dirty="0"/>
          </a:p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15 · 9 · 18</a:t>
            </a:r>
            <a:endParaRPr lang="en-US" sz="1400" dirty="0"/>
          </a:p>
        </p:txBody>
      </p:sp>
      <p:sp>
        <p:nvSpPr>
          <p:cNvPr id="10" name="Caught caption"/>
          <p:cNvSpPr txBox="1"/>
          <p:nvPr/>
        </p:nvSpPr>
        <p:spPr>
          <a:xfrm>
            <a:off x="8275320" y="297180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seeds 42 · 7 · 99</a:t>
            </a:r>
            <a:endParaRPr lang="en-US" sz="1200" dirty="0"/>
          </a:p>
        </p:txBody>
      </p:sp>
      <p:sp>
        <p:nvSpPr>
          <p:cNvPr id="11" name="Seed 42 tile"/>
          <p:cNvSpPr txBox="1"/>
          <p:nvPr/>
        </p:nvSpPr>
        <p:spPr>
          <a:xfrm>
            <a:off x="8275320" y="33375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FBFFC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Seed 42 critical recall</a:t>
            </a:r>
            <a:endParaRPr lang="en-US" sz="1400" dirty="0"/>
          </a:p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0.33 → 0.73</a:t>
            </a:r>
            <a:endParaRPr lang="en-US" sz="1400" dirty="0"/>
          </a:p>
        </p:txBody>
      </p:sp>
      <p:sp>
        <p:nvSpPr>
          <p:cNvPr id="12" name="CI tile"/>
          <p:cNvSpPr txBox="1"/>
          <p:nvPr/>
        </p:nvSpPr>
        <p:spPr>
          <a:xfrm>
            <a:off x="8275320" y="489204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5AE6E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95% interval, seed 42 recall</a:t>
            </a:r>
            <a:endParaRPr lang="en-US" sz="1400" dirty="0"/>
          </a:p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0.57 – 0.90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More criticals caught means more false alarms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What does the extra recall cost, and is that cost noise or design?</a:t>
            </a:r>
            <a:endParaRPr lang="en-US" sz="1500" dirty="0"/>
          </a:p>
        </p:txBody>
      </p:sp>
      <p:sp>
        <p:nvSpPr>
          <p:cNvPr id="5" name="Error chart panel"/>
          <p:cNvSpPr/>
          <p:nvPr/>
        </p:nvSpPr>
        <p:spPr>
          <a:xfrm>
            <a:off x="457200" y="1508760"/>
            <a:ext cx="58521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Chart title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How are errors split, per 300 anomalies?</a:t>
            </a:r>
            <a:endParaRPr lang="en-US" sz="17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01168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Noise tile"/>
          <p:cNvSpPr txBox="1"/>
          <p:nvPr/>
        </p:nvSpPr>
        <p:spPr>
          <a:xfrm>
            <a:off x="6583680" y="150876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BFFC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Precision change, zero noise</a:t>
            </a:r>
            <a:endParaRPr lang="en-US" sz="1400" dirty="0"/>
          </a:p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+0.005</a:t>
            </a:r>
            <a:endParaRPr lang="en-US" sz="1400" dirty="0"/>
          </a:p>
        </p:txBody>
      </p:sp>
      <p:sp>
        <p:nvSpPr>
          <p:cNvPr id="9" name="Precision tile"/>
          <p:cNvSpPr txBox="1"/>
          <p:nvPr/>
        </p:nvSpPr>
        <p:spPr>
          <a:xfrm>
            <a:off x="9217152" y="150876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B5483E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Final critical precision</a:t>
            </a:r>
            <a:endParaRPr lang="en-US" sz="1400" dirty="0"/>
          </a:p>
          <a:p>
            <a:pPr algn="ctr" indent="0" marL="0">
              <a:buNone/>
            </a:pPr>
            <a:r>
              <a:rPr lang="en-US" sz="3000" dirty="0">
                <a:solidFill>
                  <a:schemeClr val="bg1"/>
                </a:solidFill>
              </a:rPr>
              <a:t>0.23</a:t>
            </a:r>
            <a:endParaRPr lang="en-US" sz="1400" dirty="0"/>
          </a:p>
        </p:txBody>
      </p:sp>
      <p:sp>
        <p:nvSpPr>
          <p:cNvPr id="10" name="Conclusions panel"/>
          <p:cNvSpPr/>
          <p:nvPr/>
        </p:nvSpPr>
        <p:spPr>
          <a:xfrm>
            <a:off x="6583680" y="3063240"/>
            <a:ext cx="5148072" cy="3200400"/>
          </a:xfrm>
          <a:prstGeom prst="roundRect">
            <a:avLst>
              <a:gd name="adj" fmla="val 1714"/>
            </a:avLst>
          </a:prstGeom>
          <a:solidFill>
            <a:srgbClr val="0F1D2A"/>
          </a:solidFill>
          <a:ln w="12700">
            <a:solidFill>
              <a:srgbClr val="0F1D2A"/>
            </a:solidFill>
            <a:prstDash val="solid"/>
          </a:ln>
        </p:spPr>
      </p:sp>
      <p:sp>
        <p:nvSpPr>
          <p:cNvPr id="11" name="Conclusions bullets"/>
          <p:cNvSpPr txBox="1"/>
          <p:nvPr/>
        </p:nvSpPr>
        <p:spPr>
          <a:xfrm>
            <a:off x="6675120" y="3200400"/>
            <a:ext cx="4983480" cy="30175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</a:rPr>
              <a:t>Cost asymmetry: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 missed critical defect costs far more than a false alarm.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</a:rPr>
              <a:t>Legacy looks accurate: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0.89 exact-class accuracy, but it rarely flags anything and misses most criticals.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</a:rPr>
              <a:t>Not sensor noise: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zero-noise re-runs barely change precision; thresholds are conservative.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</a:rPr>
              <a:t>Target missed: </a:t>
            </a:r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precision 0.40 was not reached.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Validation built into the code, not added afterwards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How do we know the workflow behaves as designed?</a:t>
            </a:r>
            <a:endParaRPr lang="en-US" sz="1500" dirty="0"/>
          </a:p>
        </p:txBody>
      </p:sp>
      <p:sp>
        <p:nvSpPr>
          <p:cNvPr id="5" name="Validation KPI Automated tests passing"/>
          <p:cNvSpPr txBox="1"/>
          <p:nvPr/>
        </p:nvSpPr>
        <p:spPr>
          <a:xfrm>
            <a:off x="457200" y="150876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6FA8E4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Automated tests passing</a:t>
            </a:r>
            <a:endParaRPr lang="en-US" sz="1400" dirty="0"/>
          </a:p>
          <a:p>
            <a:pPr algn="ctr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29</a:t>
            </a:r>
            <a:endParaRPr lang="en-US" sz="1400" dirty="0"/>
          </a:p>
        </p:txBody>
      </p:sp>
      <p:sp>
        <p:nvSpPr>
          <p:cNvPr id="6" name="Validation KPI Schema validation errors"/>
          <p:cNvSpPr txBox="1"/>
          <p:nvPr/>
        </p:nvSpPr>
        <p:spPr>
          <a:xfrm>
            <a:off x="3291840" y="150876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6FA8E4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Schema validation errors</a:t>
            </a:r>
            <a:endParaRPr lang="en-US" sz="1400" dirty="0"/>
          </a:p>
          <a:p>
            <a:pPr algn="ctr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0</a:t>
            </a:r>
            <a:endParaRPr lang="en-US" sz="1400" dirty="0"/>
          </a:p>
        </p:txBody>
      </p:sp>
      <p:sp>
        <p:nvSpPr>
          <p:cNvPr id="7" name="Validation KPI Seeds: 1 tuning, 2 held-out"/>
          <p:cNvSpPr txBox="1"/>
          <p:nvPr/>
        </p:nvSpPr>
        <p:spPr>
          <a:xfrm>
            <a:off x="6126480" y="150876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FBFFC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Seeds: 1 tuning, 2 held-out</a:t>
            </a:r>
            <a:endParaRPr lang="en-US" sz="1400" dirty="0"/>
          </a:p>
          <a:p>
            <a:pPr algn="ctr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8" name="Validation KPI Run time, 300 anomalies"/>
          <p:cNvSpPr txBox="1"/>
          <p:nvPr/>
        </p:nvSpPr>
        <p:spPr>
          <a:xfrm>
            <a:off x="8961120" y="150876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E5AE6E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time, 300 anomalies</a:t>
            </a:r>
            <a:endParaRPr lang="en-US" sz="1400" dirty="0"/>
          </a:p>
          <a:p>
            <a:pPr algn="ctr" indent="0" marL="0">
              <a:buNone/>
            </a:pPr>
            <a:r>
              <a:rPr lang="en-US" sz="3200" dirty="0">
                <a:solidFill>
                  <a:schemeClr val="tx1"/>
                </a:solidFill>
              </a:rPr>
              <a:t>&lt; 0.1 s</a:t>
            </a:r>
            <a:endParaRPr lang="en-US" sz="1400" dirty="0"/>
          </a:p>
        </p:txBody>
      </p:sp>
      <p:sp>
        <p:nvSpPr>
          <p:cNvPr id="9" name="Tests panel"/>
          <p:cNvSpPr/>
          <p:nvPr/>
        </p:nvSpPr>
        <p:spPr>
          <a:xfrm>
            <a:off x="457200" y="3017520"/>
            <a:ext cx="548640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sts heading"/>
          <p:cNvSpPr txBox="1"/>
          <p:nvPr/>
        </p:nvSpPr>
        <p:spPr>
          <a:xfrm>
            <a:off x="640080" y="309067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What the tests prove</a:t>
            </a:r>
            <a:endParaRPr lang="en-US" sz="2200" dirty="0"/>
          </a:p>
        </p:txBody>
      </p:sp>
      <p:sp>
        <p:nvSpPr>
          <p:cNvPr id="11" name="Tests bullets"/>
          <p:cNvSpPr txBox="1"/>
          <p:nvPr/>
        </p:nvSpPr>
        <p:spPr>
          <a:xfrm>
            <a:off x="548640" y="3566160"/>
            <a:ext cx="5303520" cy="27432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Truth model does not import the Critic's rules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Truth columns never reach any agent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Final class is never below the Critic's screen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fake chat model can replace the mock</a:t>
            </a:r>
            <a:endParaRPr lang="en-US" sz="1800" dirty="0"/>
          </a:p>
        </p:txBody>
      </p:sp>
      <p:sp>
        <p:nvSpPr>
          <p:cNvPr id="12" name="Behaviour panel"/>
          <p:cNvSpPr/>
          <p:nvPr/>
        </p:nvSpPr>
        <p:spPr>
          <a:xfrm>
            <a:off x="6245352" y="3017520"/>
            <a:ext cx="548640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Behaviour heading"/>
          <p:cNvSpPr txBox="1"/>
          <p:nvPr/>
        </p:nvSpPr>
        <p:spPr>
          <a:xfrm>
            <a:off x="6428232" y="309067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How the loop behaves</a:t>
            </a:r>
            <a:endParaRPr lang="en-US" sz="2200" dirty="0"/>
          </a:p>
        </p:txBody>
      </p:sp>
      <p:sp>
        <p:nvSpPr>
          <p:cNvPr id="14" name="Behaviour bullets"/>
          <p:cNvSpPr txBox="1"/>
          <p:nvPr/>
        </p:nvSpPr>
        <p:spPr>
          <a:xfrm>
            <a:off x="6336792" y="3566160"/>
            <a:ext cx="5303520" cy="27432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Pydantic checks every agent output; bad records are quarantined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Seed 42: 33 Critic objections resolved in one rework pass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0 forced escalations on all three seeds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Interacting anomalies flagged: 3.3%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28016"/>
            <a:ext cx="11247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Limitations and future scope</a:t>
            </a:r>
            <a:endParaRPr lang="en-US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7132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What does the proof of concept not prove, and what comes next?</a:t>
            </a:r>
            <a:endParaRPr lang="en-US" sz="1500" dirty="0"/>
          </a:p>
        </p:txBody>
      </p:sp>
      <p:sp>
        <p:nvSpPr>
          <p:cNvPr id="5" name="Limitations header"/>
          <p:cNvSpPr txBox="1"/>
          <p:nvPr/>
        </p:nvSpPr>
        <p:spPr>
          <a:xfrm>
            <a:off x="457200" y="1508760"/>
            <a:ext cx="5486400" cy="594360"/>
          </a:xfrm>
          <a:prstGeom prst="roundRect">
            <a:avLst>
              <a:gd name="adj" fmla="val 12308"/>
            </a:avLst>
          </a:prstGeom>
          <a:solidFill>
            <a:srgbClr val="B5483E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Limitations (stated honestly)</a:t>
            </a:r>
            <a:endParaRPr lang="en-US" sz="2000" dirty="0"/>
          </a:p>
        </p:txBody>
      </p:sp>
      <p:sp>
        <p:nvSpPr>
          <p:cNvPr id="6" name="Limitations panel"/>
          <p:cNvSpPr/>
          <p:nvPr/>
        </p:nvSpPr>
        <p:spPr>
          <a:xfrm>
            <a:off x="457200" y="219456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Limitations bullets"/>
          <p:cNvSpPr txBox="1"/>
          <p:nvPr/>
        </p:nvSpPr>
        <p:spPr>
          <a:xfrm>
            <a:off x="548640" y="2331720"/>
            <a:ext cx="5303520" cy="39319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Synthetic data and a hand-written truth model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Simplified B31G and ERF: educational, never for dig decisions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Mock LLM writes template text; it does not reason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Precision 0.23; the 0.40 target was not reached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Critic and reworked Executor share one rule family</a:t>
            </a:r>
            <a:endParaRPr lang="en-US" sz="1800" dirty="0"/>
          </a:p>
        </p:txBody>
      </p:sp>
      <p:sp>
        <p:nvSpPr>
          <p:cNvPr id="8" name="Future header"/>
          <p:cNvSpPr txBox="1"/>
          <p:nvPr/>
        </p:nvSpPr>
        <p:spPr>
          <a:xfrm>
            <a:off x="6245352" y="1508760"/>
            <a:ext cx="5486400" cy="594360"/>
          </a:xfrm>
          <a:prstGeom prst="roundRect">
            <a:avLst>
              <a:gd name="adj" fmla="val 12308"/>
            </a:avLst>
          </a:prstGeom>
          <a:solidFill>
            <a:srgbClr val="6FA8E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9" name="Future panel"/>
          <p:cNvSpPr/>
          <p:nvPr/>
        </p:nvSpPr>
        <p:spPr>
          <a:xfrm>
            <a:off x="6245352" y="2194560"/>
            <a:ext cx="5486400" cy="406908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Future bullets"/>
          <p:cNvSpPr txBox="1"/>
          <p:nvPr/>
        </p:nvSpPr>
        <p:spPr>
          <a:xfrm>
            <a:off x="6336792" y="2331720"/>
            <a:ext cx="5303520" cy="393192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Swap in a local LLM through Ollama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Expose the tools as an MCP server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Real ILI vendor formats and GIS data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learned, independent Critic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RAG over integrity-management procedures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Learn from engineer approval feedback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572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Agents plus an independent second check beat manual triage</a:t>
            </a:r>
            <a:endParaRPr lang="en-US" sz="3800" dirty="0"/>
          </a:p>
        </p:txBody>
      </p:sp>
      <p:sp>
        <p:nvSpPr>
          <p:cNvPr id="3" name="Big stat"/>
          <p:cNvSpPr txBox="1"/>
          <p:nvPr/>
        </p:nvSpPr>
        <p:spPr>
          <a:xfrm>
            <a:off x="548640" y="20116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2"/>
                </a:solidFill>
              </a:rPr>
              <a:t>0.39 → 0.80</a:t>
            </a:r>
            <a:endParaRPr lang="en-US" sz="6600" dirty="0"/>
          </a:p>
        </p:txBody>
      </p:sp>
      <p:sp>
        <p:nvSpPr>
          <p:cNvPr id="4" name="Big stat caption"/>
          <p:cNvSpPr txBox="1"/>
          <p:nvPr/>
        </p:nvSpPr>
        <p:spPr>
          <a:xfrm>
            <a:off x="548640" y="33832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critical recall, legacy manual versus CorrosionGuard, on held-out synthetic seeds</a:t>
            </a:r>
            <a:endParaRPr lang="en-US" sz="1600" dirty="0"/>
          </a:p>
        </p:txBody>
      </p:sp>
      <p:sp>
        <p:nvSpPr>
          <p:cNvPr id="5" name="Second stat"/>
          <p:cNvSpPr txBox="1"/>
          <p:nvPr/>
        </p:nvSpPr>
        <p:spPr>
          <a:xfrm>
            <a:off x="548640" y="4480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IMMEDIATE recall 0.08 → 0.73</a:t>
            </a:r>
            <a:endParaRPr lang="en-US" sz="1800" dirty="0"/>
          </a:p>
        </p:txBody>
      </p:sp>
      <p:sp>
        <p:nvSpPr>
          <p:cNvPr id="6" name="Conclusion bullets"/>
          <p:cNvSpPr txBox="1"/>
          <p:nvPr/>
        </p:nvSpPr>
        <p:spPr>
          <a:xfrm>
            <a:off x="5669280" y="2103120"/>
            <a:ext cx="6035040" cy="402336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Catches more: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more critical and IMMEDIATE defects than legacy labels.</a:t>
            </a:r>
            <a:endParaRPr lang="en-US" sz="20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Explains itself: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every class traces to tool outputs and A2A messages.</a:t>
            </a:r>
            <a:endParaRPr lang="en-US" sz="20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Keeps humans in charge: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IMMEDIATE items wait for approval.</a:t>
            </a:r>
            <a:endParaRPr lang="en-US" sz="2000" dirty="0"/>
          </a:p>
          <a:p>
            <a:pPr marL="342900" indent="-342900">
              <a:spcAft>
                <a:spcPts val="1800"/>
              </a:spcAft>
              <a:buSzPct val="10000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Honest about limits: </a:t>
            </a:r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low precision, synthetic data, mock LLM.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73952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rosionGuard Dashboard">
  <a:themeElements>
    <a:clrScheme name="CorrosionGuard Dashboard">
      <a:dk1>
        <a:srgbClr val="0F1D2A"/>
      </a:dk1>
      <a:lt1>
        <a:srgbClr val="FFFFFF"/>
      </a:lt1>
      <a:dk2>
        <a:srgbClr val="1B2F42"/>
      </a:dk2>
      <a:lt2>
        <a:srgbClr val="EBEBEB"/>
      </a:lt2>
      <a:accent1>
        <a:srgbClr val="6FA8E4"/>
      </a:accent1>
      <a:accent2>
        <a:srgbClr val="E5AE6E"/>
      </a:accent2>
      <a:accent3>
        <a:srgbClr val="B5483E"/>
      </a:accent3>
      <a:accent4>
        <a:srgbClr val="FBFFC8"/>
      </a:accent4>
      <a:accent5>
        <a:srgbClr val="7AA7B0"/>
      </a:accent5>
      <a:accent6>
        <a:srgbClr val="3E6E9C"/>
      </a:accent6>
      <a:hlink>
        <a:srgbClr val="6FA8E4"/>
      </a:hlink>
      <a:folHlink>
        <a:srgbClr val="7AA7B0"/>
      </a:folHlink>
    </a:clrScheme>
    <a:fontScheme name="CorrosionGuard Dashboar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CorrosionGuard - Agentic AI for pipeline corrosion triage</dc:title>
  <dc:subject>PptxGenJS Presentation</dc:subject>
  <dc:creator>Parth Dhande</dc:creator>
  <cp:lastModifiedBy>Parth Dhande</cp:lastModifiedBy>
  <cp:revision>1</cp:revision>
  <dcterms:created xsi:type="dcterms:W3CDTF">2026-10-19T08:23:49Z</dcterms:created>
  <dcterms:modified xsi:type="dcterms:W3CDTF">2026-10-19T08:23:49Z</dcterms:modified>
</cp:coreProperties>
</file>